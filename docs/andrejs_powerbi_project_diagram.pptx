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1" r:id="rId4"/>
    <p:sldId id="258" r:id="rId5"/>
    <p:sldId id="262" r:id="rId6"/>
    <p:sldId id="259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5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9545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38912" y="6510528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Scastnijs / andrejs_powerbi_portfolio_project / docs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326880" y="651052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POWERPOINT TEMPLATE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castnijs/andrejs_powerbi_portfolio_project/tree/main/doc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73152"/>
            <a:ext cx="12191695" cy="6400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7607808" y="73152"/>
            <a:ext cx="4581144" cy="640080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594360" y="658368"/>
            <a:ext cx="1691640" cy="292608"/>
          </a:xfrm>
          <a:prstGeom prst="roundRect">
            <a:avLst>
              <a:gd name="adj" fmla="val 375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49224" y="667512"/>
            <a:ext cx="1581912" cy="265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43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DOCUMENTATION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1234440"/>
            <a:ext cx="64008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 Portfolio Project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94360" y="1856232"/>
            <a:ext cx="63093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17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&amp; Diagram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21792" y="2633472"/>
            <a:ext cx="6263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Technology stack: Docker, Apache Airflow, Postgres, MySQL, Power BI, AI agents (</a:t>
            </a:r>
            <a:r>
              <a:rPr lang="en-US" sz="1500" dirty="0" err="1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Ollama</a:t>
            </a:r>
            <a:r>
              <a:rPr lang="en-US" sz="15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4041648"/>
            <a:ext cx="6172200" cy="1078992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804672" y="4224528"/>
            <a:ext cx="9144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</a:t>
            </a:r>
            <a:endParaRPr lang="en-US" sz="950" dirty="0"/>
          </a:p>
        </p:txBody>
      </p:sp>
      <p:sp>
        <p:nvSpPr>
          <p:cNvPr id="11" name="Text 9">
            <a:hlinkClick r:id="rId3"/>
          </p:cNvPr>
          <p:cNvSpPr/>
          <p:nvPr/>
        </p:nvSpPr>
        <p:spPr>
          <a:xfrm>
            <a:off x="804672" y="4489704"/>
            <a:ext cx="5440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u="sng" dirty="0">
                <a:solidFill>
                  <a:srgbClr val="243B5A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github.com/Scastnijs/andrejs_powerbi_portfolio_project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04672" y="4846320"/>
            <a:ext cx="539496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from the main branch • 13 July 2026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8065008" y="658368"/>
            <a:ext cx="34747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FC0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FLOW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65008" y="1207008"/>
            <a:ext cx="3584448" cy="676656"/>
          </a:xfrm>
          <a:prstGeom prst="roundRect">
            <a:avLst>
              <a:gd name="adj" fmla="val 18919"/>
            </a:avLst>
          </a:prstGeom>
          <a:solidFill>
            <a:srgbClr val="E9EDF3"/>
          </a:solidFill>
          <a:ln w="12700">
            <a:solidFill>
              <a:srgbClr val="E9EDF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8247888" y="137160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596780"/>
          </a:solidFill>
          <a:ln w="12700">
            <a:solidFill>
              <a:srgbClr val="5967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8247888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50808" y="1298448"/>
            <a:ext cx="26060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SOURCES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750808" y="1545336"/>
            <a:ext cx="26517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 datasets + optional API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9857232" y="1911096"/>
            <a:ext cx="0" cy="201168"/>
          </a:xfrm>
          <a:prstGeom prst="line">
            <a:avLst/>
          </a:prstGeom>
          <a:noFill/>
          <a:ln w="19050">
            <a:solidFill>
              <a:srgbClr val="AFC0D4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8065008" y="2148840"/>
            <a:ext cx="3584448" cy="676656"/>
          </a:xfrm>
          <a:prstGeom prst="roundRect">
            <a:avLst>
              <a:gd name="adj" fmla="val 18919"/>
            </a:avLst>
          </a:prstGeom>
          <a:solidFill>
            <a:srgbClr val="D8F3F5"/>
          </a:solidFill>
          <a:ln w="12700">
            <a:solidFill>
              <a:srgbClr val="D8F3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8247888" y="231343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17B83"/>
          </a:solidFill>
          <a:ln w="12700">
            <a:solidFill>
              <a:srgbClr val="017B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8247888" y="2313432"/>
            <a:ext cx="34747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750808" y="2240280"/>
            <a:ext cx="26060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AIRFLOW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750808" y="2487168"/>
            <a:ext cx="26517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Tests, staging, dimensions, facts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9857232" y="2852928"/>
            <a:ext cx="0" cy="201168"/>
          </a:xfrm>
          <a:prstGeom prst="line">
            <a:avLst/>
          </a:prstGeom>
          <a:noFill/>
          <a:ln w="19050">
            <a:solidFill>
              <a:srgbClr val="AFC0D4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8065008" y="3090672"/>
            <a:ext cx="3584448" cy="676656"/>
          </a:xfrm>
          <a:prstGeom prst="roundRect">
            <a:avLst>
              <a:gd name="adj" fmla="val 18919"/>
            </a:avLst>
          </a:prstGeom>
          <a:solidFill>
            <a:srgbClr val="E4EEFA"/>
          </a:solidFill>
          <a:ln w="12700">
            <a:solidFill>
              <a:srgbClr val="E4EE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8247888" y="3255264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8247888" y="3255264"/>
            <a:ext cx="34747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750808" y="3182112"/>
            <a:ext cx="26060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PLATFORM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750808" y="3429000"/>
            <a:ext cx="26517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 staging → MySQL DW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9857232" y="3794760"/>
            <a:ext cx="0" cy="201168"/>
          </a:xfrm>
          <a:prstGeom prst="line">
            <a:avLst/>
          </a:prstGeom>
          <a:noFill/>
          <a:ln w="19050">
            <a:solidFill>
              <a:srgbClr val="AFC0D4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8065008" y="4032504"/>
            <a:ext cx="3584448" cy="676656"/>
          </a:xfrm>
          <a:prstGeom prst="roundRect">
            <a:avLst>
              <a:gd name="adj" fmla="val 18919"/>
            </a:avLst>
          </a:prstGeom>
          <a:solidFill>
            <a:srgbClr val="FFF6C7"/>
          </a:solidFill>
          <a:ln w="12700">
            <a:solidFill>
              <a:srgbClr val="FFF6C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8247888" y="4197096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B58A00"/>
          </a:solidFill>
          <a:ln w="12700">
            <a:solidFill>
              <a:srgbClr val="B58A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8247888" y="4197096"/>
            <a:ext cx="34747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750808" y="4123944"/>
            <a:ext cx="26060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750808" y="4370832"/>
            <a:ext cx="26517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model, DAX, Python visuals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9857232" y="4736592"/>
            <a:ext cx="0" cy="201168"/>
          </a:xfrm>
          <a:prstGeom prst="line">
            <a:avLst/>
          </a:prstGeom>
          <a:noFill/>
          <a:ln w="19050">
            <a:solidFill>
              <a:srgbClr val="AFC0D4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8065008" y="4974336"/>
            <a:ext cx="3584448" cy="676656"/>
          </a:xfrm>
          <a:prstGeom prst="roundRect">
            <a:avLst>
              <a:gd name="adj" fmla="val 18919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8247888" y="513892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8247888" y="5138928"/>
            <a:ext cx="34747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750808" y="5065776"/>
            <a:ext cx="26060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PORTFOLIO OUTPUT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8750808" y="5312664"/>
            <a:ext cx="26517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PBIX, screenshots, documentation</a:t>
            </a:r>
            <a:endParaRPr lang="en-US" sz="88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project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31520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data flow, runtime components, storage layers, and analytical outputs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1993392" cy="502920"/>
          </a:xfrm>
          <a:prstGeom prst="roundRect">
            <a:avLst>
              <a:gd name="adj" fmla="val 21818"/>
            </a:avLst>
          </a:prstGeom>
          <a:solidFill>
            <a:srgbClr val="E9EDF3"/>
          </a:solidFill>
          <a:ln w="12700">
            <a:solidFill>
              <a:srgbClr val="E9EDF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02920" y="117957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596780"/>
          </a:solidFill>
          <a:ln w="12700">
            <a:solidFill>
              <a:srgbClr val="5967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02920" y="1179576"/>
            <a:ext cx="292608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152144"/>
            <a:ext cx="146304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59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578608" y="1078992"/>
            <a:ext cx="2331720" cy="502920"/>
          </a:xfrm>
          <a:prstGeom prst="roundRect">
            <a:avLst>
              <a:gd name="adj" fmla="val 21818"/>
            </a:avLst>
          </a:prstGeom>
          <a:solidFill>
            <a:srgbClr val="D8F3F5"/>
          </a:solidFill>
          <a:ln w="12700">
            <a:solidFill>
              <a:srgbClr val="D8F3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670048" y="117957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17B83"/>
          </a:solidFill>
          <a:ln w="12700">
            <a:solidFill>
              <a:srgbClr val="017B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2670048" y="1179576"/>
            <a:ext cx="292608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035808" y="1152144"/>
            <a:ext cx="1801368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17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Orchestration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84064" y="1078992"/>
            <a:ext cx="1938528" cy="502920"/>
          </a:xfrm>
          <a:prstGeom prst="roundRect">
            <a:avLst>
              <a:gd name="adj" fmla="val 21818"/>
            </a:avLst>
          </a:prstGeom>
          <a:solidFill>
            <a:srgbClr val="E4EEFA"/>
          </a:solidFill>
          <a:ln w="12700">
            <a:solidFill>
              <a:srgbClr val="E4EE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5175504" y="117957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175504" y="1179576"/>
            <a:ext cx="292608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541264" y="1152144"/>
            <a:ext cx="1408176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367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196328" y="1078992"/>
            <a:ext cx="2103120" cy="502920"/>
          </a:xfrm>
          <a:prstGeom prst="roundRect">
            <a:avLst>
              <a:gd name="adj" fmla="val 21818"/>
            </a:avLst>
          </a:prstGeom>
          <a:solidFill>
            <a:srgbClr val="FFF0DE"/>
          </a:solidFill>
          <a:ln w="12700">
            <a:solidFill>
              <a:srgbClr val="FFF0D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7287768" y="117957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48E00"/>
          </a:solidFill>
          <a:ln w="12700">
            <a:solidFill>
              <a:srgbClr val="E48E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7287768" y="1179576"/>
            <a:ext cx="292608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653528" y="1152144"/>
            <a:ext cx="1572768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48E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Warehouse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473184" y="1078992"/>
            <a:ext cx="2304288" cy="502920"/>
          </a:xfrm>
          <a:prstGeom prst="roundRect">
            <a:avLst>
              <a:gd name="adj" fmla="val 21818"/>
            </a:avLst>
          </a:prstGeom>
          <a:solidFill>
            <a:srgbClr val="FFF6C7"/>
          </a:solidFill>
          <a:ln w="12700">
            <a:solidFill>
              <a:srgbClr val="FFF6C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9564624" y="117957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B58A00"/>
          </a:solidFill>
          <a:ln w="12700">
            <a:solidFill>
              <a:srgbClr val="B58A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9564624" y="1179576"/>
            <a:ext cx="292608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930384" y="1152144"/>
            <a:ext cx="1773936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B58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11480" y="1783080"/>
            <a:ext cx="1993392" cy="1993392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411480" y="1783080"/>
            <a:ext cx="64008" cy="1993392"/>
          </a:xfrm>
          <a:prstGeom prst="rect">
            <a:avLst/>
          </a:prstGeom>
          <a:solidFill>
            <a:srgbClr val="596780"/>
          </a:solidFill>
          <a:ln w="12700">
            <a:solidFill>
              <a:srgbClr val="5967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539496" y="1901952"/>
            <a:ext cx="749808" cy="292608"/>
          </a:xfrm>
          <a:prstGeom prst="roundRect">
            <a:avLst>
              <a:gd name="adj" fmla="val 37500"/>
            </a:avLst>
          </a:prstGeom>
          <a:solidFill>
            <a:srgbClr val="E9EDF3"/>
          </a:solidFill>
          <a:ln w="12700">
            <a:solidFill>
              <a:srgbClr val="E9EDF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594360" y="1911096"/>
            <a:ext cx="640080" cy="265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59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FILES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557784" y="2286000"/>
            <a:ext cx="1700784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 datasets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57784" y="2670048"/>
            <a:ext cx="1700784" cy="10149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countries • subdivisions • drinks • expectancy • happiness • vehicles • worldcities • country_alias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411480" y="3950208"/>
            <a:ext cx="1993392" cy="1115568"/>
          </a:xfrm>
          <a:prstGeom prst="roundRect">
            <a:avLst>
              <a:gd name="adj" fmla="val 11475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411480" y="3950208"/>
            <a:ext cx="64008" cy="1115568"/>
          </a:xfrm>
          <a:prstGeom prst="rect">
            <a:avLst/>
          </a:prstGeom>
          <a:solidFill>
            <a:srgbClr val="6D4AB5"/>
          </a:solidFill>
          <a:ln w="12700">
            <a:solidFill>
              <a:srgbClr val="6D4AB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539496" y="4069080"/>
            <a:ext cx="749808" cy="292608"/>
          </a:xfrm>
          <a:prstGeom prst="roundRect">
            <a:avLst>
              <a:gd name="adj" fmla="val 37500"/>
            </a:avLst>
          </a:prstGeom>
          <a:solidFill>
            <a:srgbClr val="EEE9FA"/>
          </a:solidFill>
          <a:ln w="12700">
            <a:solidFill>
              <a:srgbClr val="EEE9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594360" y="4078224"/>
            <a:ext cx="640080" cy="265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6D4A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557784" y="4453128"/>
            <a:ext cx="1700784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API enrichment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57784" y="4837176"/>
            <a:ext cx="1700784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55000" lnSpcReduction="20000"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Ollama endpoint can normalize country aliases.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2578608" y="1783080"/>
            <a:ext cx="2331720" cy="3282696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12700">
            <a:solidFill>
              <a:srgbClr val="B8DEE2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2770632" y="1920240"/>
            <a:ext cx="1298448" cy="292608"/>
          </a:xfrm>
          <a:prstGeom prst="roundRect">
            <a:avLst>
              <a:gd name="adj" fmla="val 375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2825496" y="1929384"/>
            <a:ext cx="1188720" cy="265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243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DESKTOP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2770632" y="2359152"/>
            <a:ext cx="190195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17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Apache Airflow 3.1.6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770632" y="2651760"/>
            <a:ext cx="18745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CeleryExecutor cluster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2770632" y="2999232"/>
            <a:ext cx="859536" cy="338328"/>
          </a:xfrm>
          <a:prstGeom prst="roundRect">
            <a:avLst>
              <a:gd name="adj" fmla="val 24324"/>
            </a:avLst>
          </a:prstGeom>
          <a:solidFill>
            <a:srgbClr val="D8F3F5"/>
          </a:solidFill>
          <a:ln w="12700">
            <a:solidFill>
              <a:srgbClr val="B8DE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2807208" y="3017520"/>
            <a:ext cx="78638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017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server</a:t>
            </a:r>
            <a:endParaRPr lang="en-US" sz="770" dirty="0"/>
          </a:p>
        </p:txBody>
      </p:sp>
      <p:sp>
        <p:nvSpPr>
          <p:cNvPr id="43" name="Shape 41"/>
          <p:cNvSpPr/>
          <p:nvPr/>
        </p:nvSpPr>
        <p:spPr>
          <a:xfrm>
            <a:off x="3749040" y="2999232"/>
            <a:ext cx="877824" cy="338328"/>
          </a:xfrm>
          <a:prstGeom prst="roundRect">
            <a:avLst>
              <a:gd name="adj" fmla="val 24324"/>
            </a:avLst>
          </a:prstGeom>
          <a:solidFill>
            <a:srgbClr val="D8F3F5"/>
          </a:solidFill>
          <a:ln w="12700">
            <a:solidFill>
              <a:srgbClr val="B8DE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3785616" y="3017520"/>
            <a:ext cx="80467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017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Scheduler</a:t>
            </a:r>
            <a:endParaRPr lang="en-US" sz="770" dirty="0"/>
          </a:p>
        </p:txBody>
      </p:sp>
      <p:sp>
        <p:nvSpPr>
          <p:cNvPr id="45" name="Shape 43"/>
          <p:cNvSpPr/>
          <p:nvPr/>
        </p:nvSpPr>
        <p:spPr>
          <a:xfrm>
            <a:off x="2770632" y="3438144"/>
            <a:ext cx="859536" cy="338328"/>
          </a:xfrm>
          <a:prstGeom prst="roundRect">
            <a:avLst>
              <a:gd name="adj" fmla="val 24324"/>
            </a:avLst>
          </a:prstGeom>
          <a:solidFill>
            <a:srgbClr val="D8F3F5"/>
          </a:solidFill>
          <a:ln w="12700">
            <a:solidFill>
              <a:srgbClr val="B8DE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2807208" y="3456432"/>
            <a:ext cx="78638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017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DAG processor</a:t>
            </a:r>
            <a:endParaRPr lang="en-US" sz="770" dirty="0"/>
          </a:p>
        </p:txBody>
      </p:sp>
      <p:sp>
        <p:nvSpPr>
          <p:cNvPr id="47" name="Shape 45"/>
          <p:cNvSpPr/>
          <p:nvPr/>
        </p:nvSpPr>
        <p:spPr>
          <a:xfrm>
            <a:off x="3749040" y="3438144"/>
            <a:ext cx="877824" cy="338328"/>
          </a:xfrm>
          <a:prstGeom prst="roundRect">
            <a:avLst>
              <a:gd name="adj" fmla="val 24324"/>
            </a:avLst>
          </a:prstGeom>
          <a:solidFill>
            <a:srgbClr val="D8F3F5"/>
          </a:solidFill>
          <a:ln w="12700">
            <a:solidFill>
              <a:srgbClr val="B8DE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/>
          <p:nvPr/>
        </p:nvSpPr>
        <p:spPr>
          <a:xfrm>
            <a:off x="3785616" y="3456432"/>
            <a:ext cx="80467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017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Celery worker</a:t>
            </a:r>
            <a:endParaRPr lang="en-US" sz="770" dirty="0"/>
          </a:p>
        </p:txBody>
      </p:sp>
      <p:sp>
        <p:nvSpPr>
          <p:cNvPr id="49" name="Shape 47"/>
          <p:cNvSpPr/>
          <p:nvPr/>
        </p:nvSpPr>
        <p:spPr>
          <a:xfrm>
            <a:off x="2770632" y="3877056"/>
            <a:ext cx="859536" cy="338328"/>
          </a:xfrm>
          <a:prstGeom prst="roundRect">
            <a:avLst>
              <a:gd name="adj" fmla="val 24324"/>
            </a:avLst>
          </a:prstGeom>
          <a:solidFill>
            <a:srgbClr val="D8F3F5"/>
          </a:solidFill>
          <a:ln w="12700">
            <a:solidFill>
              <a:srgbClr val="B8DE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2807208" y="3895344"/>
            <a:ext cx="78638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017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Triggerer</a:t>
            </a:r>
            <a:endParaRPr lang="en-US" sz="770" dirty="0"/>
          </a:p>
        </p:txBody>
      </p:sp>
      <p:sp>
        <p:nvSpPr>
          <p:cNvPr id="51" name="Shape 49"/>
          <p:cNvSpPr/>
          <p:nvPr/>
        </p:nvSpPr>
        <p:spPr>
          <a:xfrm>
            <a:off x="3749040" y="3877056"/>
            <a:ext cx="877824" cy="338328"/>
          </a:xfrm>
          <a:prstGeom prst="roundRect">
            <a:avLst>
              <a:gd name="adj" fmla="val 24324"/>
            </a:avLst>
          </a:prstGeom>
          <a:solidFill>
            <a:srgbClr val="D8F3F5"/>
          </a:solidFill>
          <a:ln w="12700">
            <a:solidFill>
              <a:srgbClr val="B8DE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/>
          <p:nvPr/>
        </p:nvSpPr>
        <p:spPr>
          <a:xfrm>
            <a:off x="3785616" y="3895344"/>
            <a:ext cx="80467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017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Redis broker</a:t>
            </a:r>
            <a:endParaRPr lang="en-US" sz="770" dirty="0"/>
          </a:p>
        </p:txBody>
      </p:sp>
      <p:sp>
        <p:nvSpPr>
          <p:cNvPr id="53" name="Shape 51"/>
          <p:cNvSpPr/>
          <p:nvPr/>
        </p:nvSpPr>
        <p:spPr>
          <a:xfrm>
            <a:off x="2770632" y="4379976"/>
            <a:ext cx="1856232" cy="438912"/>
          </a:xfrm>
          <a:prstGeom prst="roundRect">
            <a:avLst>
              <a:gd name="adj" fmla="val 20833"/>
            </a:avLst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52"/>
          <p:cNvSpPr/>
          <p:nvPr/>
        </p:nvSpPr>
        <p:spPr>
          <a:xfrm>
            <a:off x="2770632" y="4425696"/>
            <a:ext cx="1856232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master_dag.py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5084064" y="1783080"/>
            <a:ext cx="1938528" cy="3282696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BFD0E4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5084064" y="1783080"/>
            <a:ext cx="64008" cy="3282696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5212080" y="1901952"/>
            <a:ext cx="749808" cy="292608"/>
          </a:xfrm>
          <a:prstGeom prst="roundRect">
            <a:avLst>
              <a:gd name="adj" fmla="val 37500"/>
            </a:avLst>
          </a:prstGeom>
          <a:solidFill>
            <a:srgbClr val="E4EEFA"/>
          </a:solidFill>
          <a:ln w="12700">
            <a:solidFill>
              <a:srgbClr val="E4EE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6"/>
          <p:cNvSpPr/>
          <p:nvPr/>
        </p:nvSpPr>
        <p:spPr>
          <a:xfrm>
            <a:off x="5266944" y="1911096"/>
            <a:ext cx="640080" cy="265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3367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STAGING</a:t>
            </a:r>
            <a:endParaRPr lang="en-US" sz="820" dirty="0"/>
          </a:p>
        </p:txBody>
      </p:sp>
      <p:sp>
        <p:nvSpPr>
          <p:cNvPr id="59" name="Text 57"/>
          <p:cNvSpPr/>
          <p:nvPr/>
        </p:nvSpPr>
        <p:spPr>
          <a:xfrm>
            <a:off x="5230368" y="2286000"/>
            <a:ext cx="164592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 16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5230368" y="2670048"/>
            <a:ext cx="1645920" cy="2304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staging schema</a:t>
            </a:r>
            <a:endParaRPr lang="en-US" sz="930" dirty="0"/>
          </a:p>
          <a:p>
            <a:pPr marL="0" indent="0" algn="l">
              <a:buNone/>
            </a:pPr>
            <a:endParaRPr lang="en-US" sz="930" dirty="0"/>
          </a:p>
          <a:p>
            <a:pPr marL="0" indent="0" algn="l">
              <a:buNone/>
            </a:pPr>
            <a:r>
              <a:rPr lang="en-US" sz="93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drinks</a:t>
            </a:r>
            <a:endParaRPr lang="en-US" sz="930" dirty="0"/>
          </a:p>
          <a:p>
            <a:pPr marL="0" indent="0" algn="l">
              <a:buNone/>
            </a:pPr>
            <a:r>
              <a:rPr lang="en-US" sz="93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expectancy</a:t>
            </a:r>
            <a:endParaRPr lang="en-US" sz="930" dirty="0"/>
          </a:p>
          <a:p>
            <a:pPr marL="0" indent="0" algn="l">
              <a:buNone/>
            </a:pPr>
            <a:r>
              <a:rPr lang="en-US" sz="93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worldcities</a:t>
            </a:r>
            <a:endParaRPr lang="en-US" sz="930" dirty="0"/>
          </a:p>
          <a:p>
            <a:pPr marL="0" indent="0" algn="l">
              <a:buNone/>
            </a:pPr>
            <a:r>
              <a:rPr lang="en-US" sz="93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vehicles_country</a:t>
            </a:r>
            <a:endParaRPr lang="en-US" sz="930" dirty="0"/>
          </a:p>
          <a:p>
            <a:pPr marL="0" indent="0" algn="l">
              <a:buNone/>
            </a:pPr>
            <a:r>
              <a:rPr lang="en-US" sz="93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happiness</a:t>
            </a:r>
            <a:endParaRPr lang="en-US" sz="930" dirty="0"/>
          </a:p>
          <a:p>
            <a:pPr marL="0" indent="0" algn="l">
              <a:buNone/>
            </a:pPr>
            <a:r>
              <a:rPr lang="en-US" sz="93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country_alias</a:t>
            </a:r>
            <a:endParaRPr lang="en-US" sz="930" dirty="0"/>
          </a:p>
          <a:p>
            <a:pPr marL="0" indent="0" algn="l">
              <a:buNone/>
            </a:pPr>
            <a:r>
              <a:rPr lang="en-US" sz="93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countries</a:t>
            </a:r>
            <a:endParaRPr lang="en-US" sz="930" dirty="0"/>
          </a:p>
          <a:p>
            <a:pPr marL="0" indent="0" algn="l">
              <a:buNone/>
            </a:pPr>
            <a:r>
              <a:rPr lang="en-US" sz="93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subdivisions</a:t>
            </a:r>
            <a:endParaRPr lang="en-US" sz="930" dirty="0"/>
          </a:p>
        </p:txBody>
      </p:sp>
      <p:sp>
        <p:nvSpPr>
          <p:cNvPr id="61" name="Shape 59"/>
          <p:cNvSpPr/>
          <p:nvPr/>
        </p:nvSpPr>
        <p:spPr>
          <a:xfrm>
            <a:off x="7196328" y="1783080"/>
            <a:ext cx="2103120" cy="3282696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F0C995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2" name="Shape 60"/>
          <p:cNvSpPr/>
          <p:nvPr/>
        </p:nvSpPr>
        <p:spPr>
          <a:xfrm>
            <a:off x="7196328" y="1783080"/>
            <a:ext cx="64008" cy="3282696"/>
          </a:xfrm>
          <a:prstGeom prst="rect">
            <a:avLst/>
          </a:prstGeom>
          <a:solidFill>
            <a:srgbClr val="E48E00"/>
          </a:solidFill>
          <a:ln w="12700">
            <a:solidFill>
              <a:srgbClr val="E48E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Shape 61"/>
          <p:cNvSpPr/>
          <p:nvPr/>
        </p:nvSpPr>
        <p:spPr>
          <a:xfrm>
            <a:off x="7324344" y="1901952"/>
            <a:ext cx="749808" cy="292608"/>
          </a:xfrm>
          <a:prstGeom prst="roundRect">
            <a:avLst>
              <a:gd name="adj" fmla="val 37500"/>
            </a:avLst>
          </a:prstGeom>
          <a:solidFill>
            <a:srgbClr val="FFF0DE"/>
          </a:solidFill>
          <a:ln w="12700">
            <a:solidFill>
              <a:srgbClr val="FFF0D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Text 62"/>
          <p:cNvSpPr/>
          <p:nvPr/>
        </p:nvSpPr>
        <p:spPr>
          <a:xfrm>
            <a:off x="7379208" y="1911096"/>
            <a:ext cx="640080" cy="265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E48E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DW</a:t>
            </a:r>
            <a:endParaRPr lang="en-US" sz="820" dirty="0"/>
          </a:p>
        </p:txBody>
      </p:sp>
      <p:sp>
        <p:nvSpPr>
          <p:cNvPr id="65" name="Text 63"/>
          <p:cNvSpPr/>
          <p:nvPr/>
        </p:nvSpPr>
        <p:spPr>
          <a:xfrm>
            <a:off x="7342632" y="2286000"/>
            <a:ext cx="1810512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MySQL data warehouse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7342632" y="2670048"/>
            <a:ext cx="1810512" cy="2304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dw.dim_geo</a:t>
            </a:r>
            <a:endParaRPr lang="en-US" sz="930" dirty="0"/>
          </a:p>
          <a:p>
            <a:pPr marL="0" indent="0" algn="l">
              <a:buNone/>
            </a:pPr>
            <a:r>
              <a:rPr lang="en-US" sz="93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dw.dim_city</a:t>
            </a:r>
            <a:endParaRPr lang="en-US" sz="930" dirty="0"/>
          </a:p>
          <a:p>
            <a:pPr marL="0" indent="0" algn="l">
              <a:buNone/>
            </a:pPr>
            <a:r>
              <a:rPr lang="en-US" sz="93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dw.dim_time</a:t>
            </a:r>
            <a:endParaRPr lang="en-US" sz="930" dirty="0"/>
          </a:p>
          <a:p>
            <a:pPr marL="0" indent="0" algn="l">
              <a:buNone/>
            </a:pPr>
            <a:r>
              <a:rPr lang="en-US" sz="93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dw.dim_unit</a:t>
            </a:r>
            <a:endParaRPr lang="en-US" sz="930" dirty="0"/>
          </a:p>
          <a:p>
            <a:pPr marL="0" indent="0" algn="l">
              <a:buNone/>
            </a:pPr>
            <a:r>
              <a:rPr lang="en-US" sz="93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dw.dim_indicator</a:t>
            </a:r>
            <a:endParaRPr lang="en-US" sz="930" dirty="0"/>
          </a:p>
          <a:p>
            <a:pPr marL="0" indent="0" algn="l">
              <a:buNone/>
            </a:pPr>
            <a:endParaRPr lang="en-US" sz="930" dirty="0"/>
          </a:p>
          <a:p>
            <a:pPr marL="0" indent="0" algn="l">
              <a:buNone/>
            </a:pPr>
            <a:r>
              <a:rPr lang="en-US" sz="93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dw.fact_observation_country</a:t>
            </a:r>
            <a:endParaRPr lang="en-US" sz="930" dirty="0"/>
          </a:p>
          <a:p>
            <a:pPr marL="0" indent="0" algn="l">
              <a:buNone/>
            </a:pPr>
            <a:r>
              <a:rPr lang="en-US" sz="93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dw.fact_observation_city</a:t>
            </a:r>
            <a:endParaRPr lang="en-US" sz="930" dirty="0"/>
          </a:p>
          <a:p>
            <a:pPr marL="0" indent="0" algn="l">
              <a:buNone/>
            </a:pPr>
            <a:endParaRPr lang="en-US" sz="930" dirty="0"/>
          </a:p>
          <a:p>
            <a:pPr marL="0" indent="0" algn="l">
              <a:buNone/>
            </a:pPr>
            <a:r>
              <a:rPr lang="en-US" sz="93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dw.v_country_alcohol_summary</a:t>
            </a:r>
            <a:endParaRPr lang="en-US" sz="930" dirty="0"/>
          </a:p>
        </p:txBody>
      </p:sp>
      <p:sp>
        <p:nvSpPr>
          <p:cNvPr id="67" name="Shape 65"/>
          <p:cNvSpPr/>
          <p:nvPr/>
        </p:nvSpPr>
        <p:spPr>
          <a:xfrm>
            <a:off x="9473184" y="1783080"/>
            <a:ext cx="2304288" cy="2231136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 w="12700">
            <a:solidFill>
              <a:srgbClr val="E7D27F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8" name="Shape 66"/>
          <p:cNvSpPr/>
          <p:nvPr/>
        </p:nvSpPr>
        <p:spPr>
          <a:xfrm>
            <a:off x="9473184" y="1783080"/>
            <a:ext cx="64008" cy="2231136"/>
          </a:xfrm>
          <a:prstGeom prst="rect">
            <a:avLst/>
          </a:prstGeom>
          <a:solidFill>
            <a:srgbClr val="B58A00"/>
          </a:solidFill>
          <a:ln w="12700">
            <a:solidFill>
              <a:srgbClr val="B58A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Shape 67"/>
          <p:cNvSpPr/>
          <p:nvPr/>
        </p:nvSpPr>
        <p:spPr>
          <a:xfrm>
            <a:off x="9601200" y="1901952"/>
            <a:ext cx="749808" cy="292608"/>
          </a:xfrm>
          <a:prstGeom prst="roundRect">
            <a:avLst>
              <a:gd name="adj" fmla="val 37500"/>
            </a:avLst>
          </a:prstGeom>
          <a:solidFill>
            <a:srgbClr val="FFF6C7"/>
          </a:solidFill>
          <a:ln w="12700">
            <a:solidFill>
              <a:srgbClr val="FFF6C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Text 68"/>
          <p:cNvSpPr/>
          <p:nvPr/>
        </p:nvSpPr>
        <p:spPr>
          <a:xfrm>
            <a:off x="9656064" y="1911096"/>
            <a:ext cx="640080" cy="265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B58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</a:t>
            </a:r>
            <a:endParaRPr lang="en-US" sz="820" dirty="0"/>
          </a:p>
        </p:txBody>
      </p:sp>
      <p:sp>
        <p:nvSpPr>
          <p:cNvPr id="71" name="Text 69"/>
          <p:cNvSpPr/>
          <p:nvPr/>
        </p:nvSpPr>
        <p:spPr>
          <a:xfrm>
            <a:off x="9619488" y="2286000"/>
            <a:ext cx="201168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 Desktop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9619488" y="2670048"/>
            <a:ext cx="2011680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model</a:t>
            </a:r>
            <a:endParaRPr lang="en-US" sz="930" dirty="0"/>
          </a:p>
          <a:p>
            <a:pPr marL="0" indent="0" algn="l">
              <a:buNone/>
            </a:pPr>
            <a:r>
              <a:rPr lang="en-US" sz="93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DAX measures</a:t>
            </a:r>
            <a:endParaRPr lang="en-US" sz="930" dirty="0"/>
          </a:p>
          <a:p>
            <a:pPr marL="0" indent="0" algn="l">
              <a:buNone/>
            </a:pPr>
            <a:r>
              <a:rPr lang="en-US" sz="93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Map, line and column visuals</a:t>
            </a:r>
            <a:endParaRPr lang="en-US" sz="930" dirty="0"/>
          </a:p>
          <a:p>
            <a:pPr marL="0" indent="0" algn="l">
              <a:buNone/>
            </a:pPr>
            <a:r>
              <a:rPr lang="en-US" sz="93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PBIX reports and screenshots</a:t>
            </a:r>
            <a:endParaRPr lang="en-US" sz="930" dirty="0"/>
          </a:p>
        </p:txBody>
      </p:sp>
      <p:sp>
        <p:nvSpPr>
          <p:cNvPr id="73" name="Shape 71"/>
          <p:cNvSpPr/>
          <p:nvPr/>
        </p:nvSpPr>
        <p:spPr>
          <a:xfrm>
            <a:off x="9473184" y="4187952"/>
            <a:ext cx="2304288" cy="877824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BCD4E6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4" name="Shape 72"/>
          <p:cNvSpPr/>
          <p:nvPr/>
        </p:nvSpPr>
        <p:spPr>
          <a:xfrm>
            <a:off x="9473184" y="4187952"/>
            <a:ext cx="64008" cy="877824"/>
          </a:xfrm>
          <a:prstGeom prst="rect">
            <a:avLst/>
          </a:prstGeom>
          <a:solidFill>
            <a:srgbClr val="3475A8"/>
          </a:solidFill>
          <a:ln w="12700">
            <a:solidFill>
              <a:srgbClr val="3475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Shape 73"/>
          <p:cNvSpPr/>
          <p:nvPr/>
        </p:nvSpPr>
        <p:spPr>
          <a:xfrm>
            <a:off x="9601200" y="4306824"/>
            <a:ext cx="749808" cy="292608"/>
          </a:xfrm>
          <a:prstGeom prst="roundRect">
            <a:avLst>
              <a:gd name="adj" fmla="val 37500"/>
            </a:avLst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6" name="Text 74"/>
          <p:cNvSpPr/>
          <p:nvPr/>
        </p:nvSpPr>
        <p:spPr>
          <a:xfrm>
            <a:off x="9656064" y="4315968"/>
            <a:ext cx="640080" cy="265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347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</a:t>
            </a:r>
            <a:endParaRPr lang="en-US" sz="820" dirty="0"/>
          </a:p>
        </p:txBody>
      </p:sp>
      <p:sp>
        <p:nvSpPr>
          <p:cNvPr id="77" name="Text 75"/>
          <p:cNvSpPr/>
          <p:nvPr/>
        </p:nvSpPr>
        <p:spPr>
          <a:xfrm>
            <a:off x="9619488" y="4690872"/>
            <a:ext cx="201168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3.12 environment</a:t>
            </a:r>
            <a:endParaRPr lang="en-US" sz="1400" dirty="0"/>
          </a:p>
        </p:txBody>
      </p:sp>
      <p:sp>
        <p:nvSpPr>
          <p:cNvPr id="78" name="Text 76"/>
          <p:cNvSpPr/>
          <p:nvPr/>
        </p:nvSpPr>
        <p:spPr>
          <a:xfrm>
            <a:off x="9619488" y="5074920"/>
            <a:ext cx="2011680" cy="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Libraries support Power BI Python visuals.</a:t>
            </a:r>
            <a:endParaRPr lang="en-US" sz="930" dirty="0"/>
          </a:p>
        </p:txBody>
      </p:sp>
      <p:sp>
        <p:nvSpPr>
          <p:cNvPr id="79" name="Shape 77"/>
          <p:cNvSpPr/>
          <p:nvPr/>
        </p:nvSpPr>
        <p:spPr>
          <a:xfrm>
            <a:off x="2404872" y="2816352"/>
            <a:ext cx="173736" cy="0"/>
          </a:xfrm>
          <a:prstGeom prst="line">
            <a:avLst/>
          </a:prstGeom>
          <a:noFill/>
          <a:ln w="25400">
            <a:solidFill>
              <a:srgbClr val="59678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0" name="Shape 78"/>
          <p:cNvSpPr/>
          <p:nvPr/>
        </p:nvSpPr>
        <p:spPr>
          <a:xfrm>
            <a:off x="4910328" y="2816352"/>
            <a:ext cx="173736" cy="0"/>
          </a:xfrm>
          <a:prstGeom prst="line">
            <a:avLst/>
          </a:prstGeom>
          <a:noFill/>
          <a:ln w="25400">
            <a:solidFill>
              <a:srgbClr val="017B83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1" name="Shape 79"/>
          <p:cNvSpPr/>
          <p:nvPr/>
        </p:nvSpPr>
        <p:spPr>
          <a:xfrm>
            <a:off x="7022592" y="2816352"/>
            <a:ext cx="173736" cy="0"/>
          </a:xfrm>
          <a:prstGeom prst="line">
            <a:avLst/>
          </a:prstGeom>
          <a:noFill/>
          <a:ln w="25400">
            <a:solidFill>
              <a:srgbClr val="336791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2" name="Shape 80"/>
          <p:cNvSpPr/>
          <p:nvPr/>
        </p:nvSpPr>
        <p:spPr>
          <a:xfrm>
            <a:off x="9299448" y="2816352"/>
            <a:ext cx="173736" cy="0"/>
          </a:xfrm>
          <a:prstGeom prst="line">
            <a:avLst/>
          </a:prstGeom>
          <a:noFill/>
          <a:ln w="25400">
            <a:solidFill>
              <a:srgbClr val="E48E0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3" name="Shape 81"/>
          <p:cNvSpPr/>
          <p:nvPr/>
        </p:nvSpPr>
        <p:spPr>
          <a:xfrm>
            <a:off x="2404872" y="4517136"/>
            <a:ext cx="173736" cy="0"/>
          </a:xfrm>
          <a:prstGeom prst="line">
            <a:avLst/>
          </a:prstGeom>
          <a:noFill/>
          <a:ln w="20320">
            <a:solidFill>
              <a:srgbClr val="6D4AB5"/>
            </a:solidFill>
            <a:prstDash val="dash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4" name="Shape 82"/>
          <p:cNvSpPr/>
          <p:nvPr/>
        </p:nvSpPr>
        <p:spPr>
          <a:xfrm>
            <a:off x="411480" y="5385816"/>
            <a:ext cx="11365992" cy="841248"/>
          </a:xfrm>
          <a:prstGeom prst="roundRect">
            <a:avLst>
              <a:gd name="adj" fmla="val 13043"/>
            </a:avLst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5" name="Text 83"/>
          <p:cNvSpPr/>
          <p:nvPr/>
        </p:nvSpPr>
        <p:spPr>
          <a:xfrm>
            <a:off x="612648" y="5605272"/>
            <a:ext cx="41148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AFC0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1078992" y="5541264"/>
            <a:ext cx="1298448" cy="356616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7" name="Text 85"/>
          <p:cNvSpPr/>
          <p:nvPr/>
        </p:nvSpPr>
        <p:spPr>
          <a:xfrm>
            <a:off x="1115568" y="5559552"/>
            <a:ext cx="1225296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 clone</a:t>
            </a:r>
            <a:endParaRPr lang="en-US" sz="870" dirty="0"/>
          </a:p>
        </p:txBody>
      </p:sp>
      <p:sp>
        <p:nvSpPr>
          <p:cNvPr id="88" name="Shape 86"/>
          <p:cNvSpPr/>
          <p:nvPr/>
        </p:nvSpPr>
        <p:spPr>
          <a:xfrm>
            <a:off x="2423160" y="5719572"/>
            <a:ext cx="173736" cy="0"/>
          </a:xfrm>
          <a:prstGeom prst="line">
            <a:avLst/>
          </a:prstGeom>
          <a:noFill/>
          <a:ln w="15240">
            <a:solidFill>
              <a:srgbClr val="AFC0D4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9" name="Shape 87"/>
          <p:cNvSpPr/>
          <p:nvPr/>
        </p:nvSpPr>
        <p:spPr>
          <a:xfrm>
            <a:off x="2697480" y="5541264"/>
            <a:ext cx="1572768" cy="356616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0" name="Text 88"/>
          <p:cNvSpPr/>
          <p:nvPr/>
        </p:nvSpPr>
        <p:spPr>
          <a:xfrm>
            <a:off x="2734056" y="5559552"/>
            <a:ext cx="1499616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compose up -d</a:t>
            </a:r>
            <a:endParaRPr lang="en-US" sz="870" dirty="0"/>
          </a:p>
        </p:txBody>
      </p:sp>
      <p:sp>
        <p:nvSpPr>
          <p:cNvPr id="91" name="Shape 89"/>
          <p:cNvSpPr/>
          <p:nvPr/>
        </p:nvSpPr>
        <p:spPr>
          <a:xfrm>
            <a:off x="4315968" y="5719572"/>
            <a:ext cx="173736" cy="0"/>
          </a:xfrm>
          <a:prstGeom prst="line">
            <a:avLst/>
          </a:prstGeom>
          <a:noFill/>
          <a:ln w="15240">
            <a:solidFill>
              <a:srgbClr val="AFC0D4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92" name="Shape 90"/>
          <p:cNvSpPr/>
          <p:nvPr/>
        </p:nvSpPr>
        <p:spPr>
          <a:xfrm>
            <a:off x="4590288" y="5541264"/>
            <a:ext cx="1627632" cy="356616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3" name="Text 91"/>
          <p:cNvSpPr/>
          <p:nvPr/>
        </p:nvSpPr>
        <p:spPr>
          <a:xfrm>
            <a:off x="4626864" y="5559552"/>
            <a:ext cx="15544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&amp; activate venv</a:t>
            </a:r>
            <a:endParaRPr lang="en-US" sz="870" dirty="0"/>
          </a:p>
        </p:txBody>
      </p:sp>
      <p:sp>
        <p:nvSpPr>
          <p:cNvPr id="94" name="Shape 92"/>
          <p:cNvSpPr/>
          <p:nvPr/>
        </p:nvSpPr>
        <p:spPr>
          <a:xfrm>
            <a:off x="6263640" y="5719572"/>
            <a:ext cx="173736" cy="0"/>
          </a:xfrm>
          <a:prstGeom prst="line">
            <a:avLst/>
          </a:prstGeom>
          <a:noFill/>
          <a:ln w="15240">
            <a:solidFill>
              <a:srgbClr val="AFC0D4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95" name="Shape 93"/>
          <p:cNvSpPr/>
          <p:nvPr/>
        </p:nvSpPr>
        <p:spPr>
          <a:xfrm>
            <a:off x="6537960" y="5541264"/>
            <a:ext cx="1298448" cy="356616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6" name="Text 94"/>
          <p:cNvSpPr/>
          <p:nvPr/>
        </p:nvSpPr>
        <p:spPr>
          <a:xfrm>
            <a:off x="6574536" y="5559552"/>
            <a:ext cx="1225296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 install requirements</a:t>
            </a:r>
            <a:endParaRPr lang="en-US" sz="870" dirty="0"/>
          </a:p>
        </p:txBody>
      </p:sp>
      <p:sp>
        <p:nvSpPr>
          <p:cNvPr id="97" name="Shape 95"/>
          <p:cNvSpPr/>
          <p:nvPr/>
        </p:nvSpPr>
        <p:spPr>
          <a:xfrm>
            <a:off x="7882128" y="5719572"/>
            <a:ext cx="173736" cy="0"/>
          </a:xfrm>
          <a:prstGeom prst="line">
            <a:avLst/>
          </a:prstGeom>
          <a:noFill/>
          <a:ln w="15240">
            <a:solidFill>
              <a:srgbClr val="AFC0D4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98" name="Shape 96"/>
          <p:cNvSpPr/>
          <p:nvPr/>
        </p:nvSpPr>
        <p:spPr>
          <a:xfrm>
            <a:off x="8156448" y="5541264"/>
            <a:ext cx="1298448" cy="356616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9" name="Text 97"/>
          <p:cNvSpPr/>
          <p:nvPr/>
        </p:nvSpPr>
        <p:spPr>
          <a:xfrm>
            <a:off x="8193024" y="5559552"/>
            <a:ext cx="1225296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PBIX</a:t>
            </a:r>
            <a:endParaRPr lang="en-US" sz="870" dirty="0"/>
          </a:p>
        </p:txBody>
      </p:sp>
      <p:sp>
        <p:nvSpPr>
          <p:cNvPr id="100" name="Shape 98"/>
          <p:cNvSpPr/>
          <p:nvPr/>
        </p:nvSpPr>
        <p:spPr>
          <a:xfrm>
            <a:off x="9500616" y="5719572"/>
            <a:ext cx="173736" cy="0"/>
          </a:xfrm>
          <a:prstGeom prst="line">
            <a:avLst/>
          </a:prstGeom>
          <a:noFill/>
          <a:ln w="15240">
            <a:solidFill>
              <a:srgbClr val="AFC0D4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01" name="Shape 99"/>
          <p:cNvSpPr/>
          <p:nvPr/>
        </p:nvSpPr>
        <p:spPr>
          <a:xfrm>
            <a:off x="9774936" y="5541264"/>
            <a:ext cx="1298448" cy="356616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2" name="Text 100"/>
          <p:cNvSpPr/>
          <p:nvPr/>
        </p:nvSpPr>
        <p:spPr>
          <a:xfrm>
            <a:off x="9811512" y="5559552"/>
            <a:ext cx="1225296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Refresh</a:t>
            </a:r>
            <a:endParaRPr lang="en-US" sz="870" dirty="0"/>
          </a:p>
        </p:txBody>
      </p:sp>
      <p:sp>
        <p:nvSpPr>
          <p:cNvPr id="10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10312"/>
          </a:xfrm>
          <a:prstGeom prst="rect">
            <a:avLst/>
          </a:prstGeom>
          <a:solidFill>
            <a:srgbClr val="1CC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43891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2700" b="1">
                <a:solidFill>
                  <a:srgbClr val="F2F7FF"/>
                </a:solidFill>
                <a:latin typeface="Aptos"/>
              </a:rPr>
              <a:t>Docker runtime and docker-compose.yaml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972800" cy="27432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1250" b="0">
                <a:solidFill>
                  <a:srgbClr val="AABAD2"/>
                </a:solidFill>
                <a:latin typeface="Aptos"/>
              </a:rPr>
              <a:t>Local services, exposed ports, shared volumes, and how Airflow connects the project together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53312"/>
            <a:ext cx="2880360" cy="4864608"/>
          </a:xfrm>
          <a:prstGeom prst="roundRect">
            <a:avLst/>
          </a:prstGeom>
          <a:solidFill>
            <a:srgbClr val="0A1121"/>
          </a:solidFill>
          <a:ln w="12700">
            <a:solidFill>
              <a:srgbClr val="3A4D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" y="1499616"/>
            <a:ext cx="2587752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"/>
              </a:spcAft>
              <a:defRPr sz="1019" b="1">
                <a:solidFill>
                  <a:srgbClr val="1CCFB8"/>
                </a:solidFill>
                <a:latin typeface="Consolas"/>
              </a:defRPr>
            </a:pPr>
            <a:r>
              <a:t>docker-compose.yaml</a:t>
            </a:r>
          </a:p>
          <a:p>
            <a:pPr>
              <a:spcAft>
                <a:spcPts val="150"/>
              </a:spcAft>
              <a:defRPr sz="869" b="0">
                <a:solidFill>
                  <a:srgbClr val="AABAD2"/>
                </a:solidFill>
                <a:latin typeface="Consolas"/>
              </a:defRPr>
            </a:pPr>
            <a:endParaRPr/>
          </a:p>
          <a:p>
            <a:pPr>
              <a:spcAft>
                <a:spcPts val="150"/>
              </a:spcAft>
              <a:defRPr sz="869" b="0">
                <a:solidFill>
                  <a:srgbClr val="F2F7FF"/>
                </a:solidFill>
                <a:latin typeface="Consolas"/>
              </a:defRPr>
            </a:pPr>
            <a:r>
              <a:t>x-airflow-common:</a:t>
            </a:r>
          </a:p>
          <a:p>
            <a:pPr>
              <a:spcAft>
                <a:spcPts val="150"/>
              </a:spcAft>
              <a:defRPr sz="869" b="0">
                <a:solidFill>
                  <a:srgbClr val="F2F7FF"/>
                </a:solidFill>
                <a:latin typeface="Consolas"/>
              </a:defRPr>
            </a:pPr>
            <a:r>
              <a:t>  image: apache/airflow:3.1.6</a:t>
            </a:r>
          </a:p>
          <a:p>
            <a:pPr>
              <a:spcAft>
                <a:spcPts val="150"/>
              </a:spcAft>
              <a:defRPr sz="869" b="0">
                <a:solidFill>
                  <a:srgbClr val="F2F7FF"/>
                </a:solidFill>
                <a:latin typeface="Consolas"/>
              </a:defRPr>
            </a:pPr>
            <a:r>
              <a:t>  env_file: .env</a:t>
            </a:r>
          </a:p>
          <a:p>
            <a:pPr>
              <a:spcAft>
                <a:spcPts val="150"/>
              </a:spcAft>
              <a:defRPr sz="869" b="0">
                <a:solidFill>
                  <a:srgbClr val="F2F7FF"/>
                </a:solidFill>
                <a:latin typeface="Consolas"/>
              </a:defRPr>
            </a:pPr>
            <a:r>
              <a:t>  executor: CeleryExecutor</a:t>
            </a:r>
          </a:p>
          <a:p>
            <a:pPr>
              <a:spcAft>
                <a:spcPts val="150"/>
              </a:spcAft>
              <a:defRPr sz="869" b="0">
                <a:solidFill>
                  <a:srgbClr val="F2F7FF"/>
                </a:solidFill>
                <a:latin typeface="Consolas"/>
              </a:defRPr>
            </a:pPr>
            <a:r>
              <a:t>  volumes:</a:t>
            </a:r>
          </a:p>
          <a:p>
            <a:pPr>
              <a:spcAft>
                <a:spcPts val="150"/>
              </a:spcAft>
              <a:defRPr sz="869" b="0">
                <a:solidFill>
                  <a:srgbClr val="AABAD2"/>
                </a:solidFill>
                <a:latin typeface="Consolas"/>
              </a:defRPr>
            </a:pPr>
            <a:r>
              <a:t>    ./dags   -&gt; /opt/airflow/dags</a:t>
            </a:r>
          </a:p>
          <a:p>
            <a:pPr>
              <a:spcAft>
                <a:spcPts val="150"/>
              </a:spcAft>
              <a:defRPr sz="869" b="0">
                <a:solidFill>
                  <a:srgbClr val="AABAD2"/>
                </a:solidFill>
                <a:latin typeface="Consolas"/>
              </a:defRPr>
            </a:pPr>
            <a:r>
              <a:t>    ./data   -&gt; /opt/airflow/data</a:t>
            </a:r>
          </a:p>
          <a:p>
            <a:pPr>
              <a:spcAft>
                <a:spcPts val="150"/>
              </a:spcAft>
              <a:defRPr sz="869" b="0">
                <a:solidFill>
                  <a:srgbClr val="AABAD2"/>
                </a:solidFill>
                <a:latin typeface="Consolas"/>
              </a:defRPr>
            </a:pPr>
            <a:r>
              <a:t>    ./logs   -&gt; /opt/airflow/logs</a:t>
            </a:r>
          </a:p>
          <a:p>
            <a:pPr>
              <a:spcAft>
                <a:spcPts val="150"/>
              </a:spcAft>
              <a:defRPr sz="869" b="0">
                <a:solidFill>
                  <a:srgbClr val="AABAD2"/>
                </a:solidFill>
                <a:latin typeface="Consolas"/>
              </a:defRPr>
            </a:pPr>
            <a:endParaRPr/>
          </a:p>
          <a:p>
            <a:pPr>
              <a:spcAft>
                <a:spcPts val="150"/>
              </a:spcAft>
              <a:defRPr sz="869" b="0">
                <a:solidFill>
                  <a:srgbClr val="F2F7FF"/>
                </a:solidFill>
                <a:latin typeface="Consolas"/>
              </a:defRPr>
            </a:pPr>
            <a:r>
              <a:t>services:</a:t>
            </a:r>
          </a:p>
          <a:p>
            <a:pPr>
              <a:spcAft>
                <a:spcPts val="150"/>
              </a:spcAft>
              <a:defRPr sz="869" b="0">
                <a:solidFill>
                  <a:srgbClr val="F2F7FF"/>
                </a:solidFill>
                <a:latin typeface="Consolas"/>
              </a:defRPr>
            </a:pPr>
            <a:r>
              <a:t>  postgres: 5433:5432</a:t>
            </a:r>
          </a:p>
          <a:p>
            <a:pPr>
              <a:spcAft>
                <a:spcPts val="150"/>
              </a:spcAft>
              <a:defRPr sz="869" b="0">
                <a:solidFill>
                  <a:srgbClr val="F2F7FF"/>
                </a:solidFill>
                <a:latin typeface="Consolas"/>
              </a:defRPr>
            </a:pPr>
            <a:r>
              <a:t>  redis: expose 6379</a:t>
            </a:r>
          </a:p>
          <a:p>
            <a:pPr>
              <a:spcAft>
                <a:spcPts val="150"/>
              </a:spcAft>
              <a:defRPr sz="869" b="0">
                <a:solidFill>
                  <a:srgbClr val="F2F7FF"/>
                </a:solidFill>
                <a:latin typeface="Consolas"/>
              </a:defRPr>
            </a:pPr>
            <a:r>
              <a:t>  airflow-apiserver: 8083:8080</a:t>
            </a:r>
          </a:p>
          <a:p>
            <a:pPr>
              <a:spcAft>
                <a:spcPts val="150"/>
              </a:spcAft>
              <a:defRPr sz="869" b="0">
                <a:solidFill>
                  <a:srgbClr val="AABAD2"/>
                </a:solidFill>
                <a:latin typeface="Consolas"/>
              </a:defRPr>
            </a:pPr>
            <a:r>
              <a:t>  scheduler / worker / triggerer</a:t>
            </a:r>
          </a:p>
          <a:p>
            <a:pPr>
              <a:spcAft>
                <a:spcPts val="150"/>
              </a:spcAft>
              <a:defRPr sz="869" b="0">
                <a:solidFill>
                  <a:srgbClr val="F2F7FF"/>
                </a:solidFill>
                <a:latin typeface="Consolas"/>
              </a:defRPr>
            </a:pPr>
            <a:r>
              <a:t>  flower: 5555:5555 (profile)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30752" y="1444752"/>
            <a:ext cx="4480560" cy="4645152"/>
          </a:xfrm>
          <a:prstGeom prst="roundRect">
            <a:avLst/>
          </a:prstGeom>
          <a:solidFill>
            <a:srgbClr val="0E1A37"/>
          </a:solidFill>
          <a:ln w="22860">
            <a:solidFill>
              <a:srgbClr val="46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50208" y="1627632"/>
            <a:ext cx="3931920" cy="292608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1700" b="1">
                <a:solidFill>
                  <a:srgbClr val="F2F7FF"/>
                </a:solidFill>
                <a:latin typeface="Aptos"/>
              </a:rPr>
              <a:t>Docker Compose local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8496" y="1947672"/>
            <a:ext cx="3840480" cy="21945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950" b="0">
                <a:solidFill>
                  <a:srgbClr val="AABAD2"/>
                </a:solidFill>
                <a:latin typeface="Aptos"/>
              </a:rPr>
              <a:t>One YAML file starts the Airflow cluster and shared dependencies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68496" y="2395728"/>
            <a:ext cx="1874519" cy="502920"/>
          </a:xfrm>
          <a:prstGeom prst="roundRect">
            <a:avLst/>
          </a:prstGeom>
          <a:solidFill>
            <a:srgbClr val="18274C"/>
          </a:solidFill>
          <a:ln w="15240">
            <a:solidFill>
              <a:srgbClr val="46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087368" y="2523744"/>
            <a:ext cx="347472" cy="347472"/>
          </a:xfrm>
          <a:prstGeom prst="ellipse">
            <a:avLst/>
          </a:prstGeom>
          <a:solidFill>
            <a:srgbClr val="46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5424" y="2505456"/>
            <a:ext cx="1216151" cy="201168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1230" b="1">
                <a:solidFill>
                  <a:srgbClr val="F2F7FF"/>
                </a:solidFill>
                <a:latin typeface="Aptos"/>
              </a:rPr>
              <a:t>airflow-apiserver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743200"/>
            <a:ext cx="1216151" cy="201168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880" b="0">
                <a:solidFill>
                  <a:srgbClr val="AABAD2"/>
                </a:solidFill>
                <a:latin typeface="Aptos"/>
              </a:rPr>
              <a:t>UI/API on host :8083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2395728"/>
            <a:ext cx="2017776" cy="502920"/>
          </a:xfrm>
          <a:prstGeom prst="roundRect">
            <a:avLst/>
          </a:prstGeom>
          <a:solidFill>
            <a:srgbClr val="18274C"/>
          </a:solidFill>
          <a:ln w="15240">
            <a:solidFill>
              <a:srgbClr val="1CC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108192" y="2523744"/>
            <a:ext cx="347472" cy="347472"/>
          </a:xfrm>
          <a:prstGeom prst="ellipse">
            <a:avLst/>
          </a:prstGeom>
          <a:solidFill>
            <a:srgbClr val="1CC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56248" y="2505456"/>
            <a:ext cx="1216151" cy="201168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1230" b="1">
                <a:solidFill>
                  <a:srgbClr val="F2F7FF"/>
                </a:solidFill>
                <a:latin typeface="Aptos"/>
              </a:rPr>
              <a:t>airflow-scheduler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6248" y="2743200"/>
            <a:ext cx="1216151" cy="201168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880" b="0">
                <a:solidFill>
                  <a:srgbClr val="AABAD2"/>
                </a:solidFill>
                <a:latin typeface="Aptos"/>
              </a:rPr>
              <a:t>schedules and triggers DAGs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68496" y="3063240"/>
            <a:ext cx="1874519" cy="502920"/>
          </a:xfrm>
          <a:prstGeom prst="roundRect">
            <a:avLst/>
          </a:prstGeom>
          <a:solidFill>
            <a:srgbClr val="18274C"/>
          </a:solidFill>
          <a:ln w="15240">
            <a:solidFill>
              <a:srgbClr val="3AC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087368" y="3191256"/>
            <a:ext cx="347472" cy="347472"/>
          </a:xfrm>
          <a:prstGeom prst="ellipse">
            <a:avLst/>
          </a:prstGeom>
          <a:solidFill>
            <a:srgbClr val="3AC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35424" y="3172968"/>
            <a:ext cx="1216151" cy="201168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1230" b="1">
                <a:solidFill>
                  <a:srgbClr val="F2F7FF"/>
                </a:solidFill>
                <a:latin typeface="Aptos"/>
              </a:rPr>
              <a:t>airflow-worker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5424" y="3410712"/>
            <a:ext cx="1216151" cy="201168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880" b="0">
                <a:solidFill>
                  <a:srgbClr val="AABAD2"/>
                </a:solidFill>
                <a:latin typeface="Aptos"/>
              </a:rPr>
              <a:t>Celery task execution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9320" y="3063240"/>
            <a:ext cx="2017776" cy="502920"/>
          </a:xfrm>
          <a:prstGeom prst="roundRect">
            <a:avLst/>
          </a:prstGeom>
          <a:solidFill>
            <a:srgbClr val="18274C"/>
          </a:solidFill>
          <a:ln w="15240">
            <a:solidFill>
              <a:srgbClr val="97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108192" y="3191256"/>
            <a:ext cx="347472" cy="347472"/>
          </a:xfrm>
          <a:prstGeom prst="ellipse">
            <a:avLst/>
          </a:prstGeom>
          <a:solidFill>
            <a:srgbClr val="97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56248" y="3172968"/>
            <a:ext cx="1216151" cy="201168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1230" b="1">
                <a:solidFill>
                  <a:srgbClr val="F2F7FF"/>
                </a:solidFill>
                <a:latin typeface="Aptos"/>
              </a:rPr>
              <a:t>dag-processor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6248" y="3410712"/>
            <a:ext cx="1216151" cy="201168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880" b="0">
                <a:solidFill>
                  <a:srgbClr val="AABAD2"/>
                </a:solidFill>
                <a:latin typeface="Aptos"/>
              </a:rPr>
              <a:t>parses DAG files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68496" y="3730752"/>
            <a:ext cx="1874519" cy="502920"/>
          </a:xfrm>
          <a:prstGeom prst="roundRect">
            <a:avLst/>
          </a:prstGeom>
          <a:solidFill>
            <a:srgbClr val="18274C"/>
          </a:solidFill>
          <a:ln w="1524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087368" y="3858768"/>
            <a:ext cx="347472" cy="347472"/>
          </a:xfrm>
          <a:prstGeom prst="ellipse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35424" y="3840480"/>
            <a:ext cx="1216151" cy="201168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1230" b="1">
                <a:solidFill>
                  <a:srgbClr val="F2F7FF"/>
                </a:solidFill>
                <a:latin typeface="Aptos"/>
              </a:rPr>
              <a:t>airflow-triggerer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35424" y="4078224"/>
            <a:ext cx="1216151" cy="201168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880" b="0">
                <a:solidFill>
                  <a:srgbClr val="AABAD2"/>
                </a:solidFill>
                <a:latin typeface="Aptos"/>
              </a:rPr>
              <a:t>async trigger support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89320" y="3730752"/>
            <a:ext cx="2017776" cy="502920"/>
          </a:xfrm>
          <a:prstGeom prst="roundRect">
            <a:avLst/>
          </a:prstGeom>
          <a:solidFill>
            <a:srgbClr val="18274C"/>
          </a:solidFill>
          <a:ln w="15240">
            <a:solidFill>
              <a:srgbClr val="FF8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108192" y="3858768"/>
            <a:ext cx="347472" cy="347472"/>
          </a:xfrm>
          <a:prstGeom prst="ellipse">
            <a:avLst/>
          </a:prstGeom>
          <a:solidFill>
            <a:srgbClr val="FF8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56248" y="3840480"/>
            <a:ext cx="1216151" cy="201168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1230" b="1">
                <a:solidFill>
                  <a:srgbClr val="F2F7FF"/>
                </a:solidFill>
                <a:latin typeface="Aptos"/>
              </a:rPr>
              <a:t>airflow-init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56248" y="4078224"/>
            <a:ext cx="1216151" cy="201168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880" b="0">
                <a:solidFill>
                  <a:srgbClr val="AABAD2"/>
                </a:solidFill>
                <a:latin typeface="Aptos"/>
              </a:rPr>
              <a:t>DB migrate + admin user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68496" y="4398264"/>
            <a:ext cx="1874519" cy="502920"/>
          </a:xfrm>
          <a:prstGeom prst="roundRect">
            <a:avLst/>
          </a:prstGeom>
          <a:solidFill>
            <a:srgbClr val="18274C"/>
          </a:solidFill>
          <a:ln w="15240">
            <a:solidFill>
              <a:srgbClr val="46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4087368" y="4526279"/>
            <a:ext cx="347472" cy="347472"/>
          </a:xfrm>
          <a:prstGeom prst="ellipse">
            <a:avLst/>
          </a:prstGeom>
          <a:solidFill>
            <a:srgbClr val="46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35424" y="4507992"/>
            <a:ext cx="1216151" cy="201168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1230" b="1">
                <a:solidFill>
                  <a:srgbClr val="F2F7FF"/>
                </a:solidFill>
                <a:latin typeface="Aptos"/>
              </a:rPr>
              <a:t>postgres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35424" y="4745736"/>
            <a:ext cx="1216151" cy="201168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880" b="0">
                <a:solidFill>
                  <a:srgbClr val="AABAD2"/>
                </a:solidFill>
                <a:latin typeface="Aptos"/>
              </a:rPr>
              <a:t>metadata / staging :5433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89320" y="4398264"/>
            <a:ext cx="2017776" cy="502920"/>
          </a:xfrm>
          <a:prstGeom prst="roundRect">
            <a:avLst/>
          </a:prstGeom>
          <a:solidFill>
            <a:srgbClr val="18274C"/>
          </a:solidFill>
          <a:ln w="15240">
            <a:solidFill>
              <a:srgbClr val="FF5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108192" y="4526279"/>
            <a:ext cx="347472" cy="347472"/>
          </a:xfrm>
          <a:prstGeom prst="ellipse">
            <a:avLst/>
          </a:prstGeom>
          <a:solidFill>
            <a:srgbClr val="FF5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56248" y="4507992"/>
            <a:ext cx="1216151" cy="201168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1230" b="1">
                <a:solidFill>
                  <a:srgbClr val="F2F7FF"/>
                </a:solidFill>
                <a:latin typeface="Aptos"/>
              </a:rPr>
              <a:t>redis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56248" y="4745736"/>
            <a:ext cx="1216151" cy="201168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880" b="0">
                <a:solidFill>
                  <a:srgbClr val="AABAD2"/>
                </a:solidFill>
                <a:latin typeface="Aptos"/>
              </a:rPr>
              <a:t>Celery broker :6379 internal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22208" y="1353312"/>
            <a:ext cx="3154680" cy="4864608"/>
          </a:xfrm>
          <a:prstGeom prst="roundRect">
            <a:avLst/>
          </a:prstGeom>
          <a:solidFill>
            <a:srgbClr val="121F3D"/>
          </a:solidFill>
          <a:ln w="19050">
            <a:solidFill>
              <a:srgbClr val="1CC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732520" y="1581912"/>
            <a:ext cx="1638269" cy="513987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1550" b="1" dirty="0">
                <a:solidFill>
                  <a:srgbClr val="F2F7FF"/>
                </a:solidFill>
                <a:latin typeface="Aptos"/>
              </a:rPr>
              <a:t>Exposed ports &amp; </a:t>
            </a:r>
            <a:endParaRPr lang="en-GB" sz="1550" b="1" dirty="0">
              <a:solidFill>
                <a:srgbClr val="F2F7FF"/>
              </a:solidFill>
              <a:latin typeface="Aptos"/>
            </a:endParaRPr>
          </a:p>
          <a:p>
            <a:pPr algn="l"/>
            <a:r>
              <a:rPr sz="1550" b="1" dirty="0">
                <a:solidFill>
                  <a:srgbClr val="F2F7FF"/>
                </a:solidFill>
                <a:latin typeface="Aptos"/>
              </a:rPr>
              <a:t>external services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2130552"/>
            <a:ext cx="2743200" cy="1600200"/>
          </a:xfrm>
          <a:prstGeom prst="rect">
            <a:avLst/>
          </a:prstGeom>
          <a:noFill/>
        </p:spPr>
        <p:txBody>
          <a:bodyPr wrap="square" tIns="73152" bIns="73152">
            <a:spAutoFit/>
          </a:bodyPr>
          <a:lstStyle/>
          <a:p>
            <a:pPr>
              <a:spcAft>
                <a:spcPts val="400"/>
              </a:spcAft>
              <a:defRPr sz="1080">
                <a:solidFill>
                  <a:srgbClr val="F2F7FF"/>
                </a:solidFill>
                <a:latin typeface="Aptos"/>
              </a:defRPr>
            </a:pPr>
            <a:r>
              <a:rPr dirty="0"/>
              <a:t>8083 → Airflow API/UI</a:t>
            </a:r>
          </a:p>
          <a:p>
            <a:pPr>
              <a:spcAft>
                <a:spcPts val="400"/>
              </a:spcAft>
              <a:defRPr sz="1080">
                <a:solidFill>
                  <a:srgbClr val="F2F7FF"/>
                </a:solidFill>
                <a:latin typeface="Aptos"/>
              </a:defRPr>
            </a:pPr>
            <a:r>
              <a:rPr dirty="0"/>
              <a:t>5433 → PostgreSQL container</a:t>
            </a:r>
          </a:p>
          <a:p>
            <a:pPr>
              <a:spcAft>
                <a:spcPts val="400"/>
              </a:spcAft>
              <a:defRPr sz="1080">
                <a:solidFill>
                  <a:srgbClr val="F2F7FF"/>
                </a:solidFill>
                <a:latin typeface="Aptos"/>
              </a:defRPr>
            </a:pPr>
            <a:r>
              <a:rPr dirty="0"/>
              <a:t>6379 → Redis broker (internal)</a:t>
            </a:r>
          </a:p>
          <a:p>
            <a:pPr>
              <a:spcAft>
                <a:spcPts val="400"/>
              </a:spcAft>
              <a:defRPr sz="1080">
                <a:solidFill>
                  <a:srgbClr val="F2F7FF"/>
                </a:solidFill>
                <a:latin typeface="Aptos"/>
              </a:defRPr>
            </a:pPr>
            <a:r>
              <a:rPr dirty="0"/>
              <a:t>5555 → Flower monitor (optional)</a:t>
            </a:r>
          </a:p>
          <a:p>
            <a:pPr>
              <a:spcAft>
                <a:spcPts val="400"/>
              </a:spcAft>
              <a:defRPr sz="1080">
                <a:solidFill>
                  <a:srgbClr val="F2F7FF"/>
                </a:solidFill>
                <a:latin typeface="Aptos"/>
              </a:defRPr>
            </a:pPr>
            <a:r>
              <a:rPr dirty="0"/>
              <a:t>3306 → MySQL warehouse connection</a:t>
            </a:r>
          </a:p>
          <a:p>
            <a:pPr>
              <a:spcAft>
                <a:spcPts val="400"/>
              </a:spcAft>
              <a:defRPr sz="1080">
                <a:solidFill>
                  <a:srgbClr val="F2F7FF"/>
                </a:solidFill>
                <a:latin typeface="Aptos"/>
              </a:defRPr>
            </a:pPr>
            <a:r>
              <a:rPr dirty="0"/>
              <a:t>11434 → local </a:t>
            </a:r>
            <a:r>
              <a:rPr dirty="0" err="1"/>
              <a:t>Ollama</a:t>
            </a:r>
            <a:r>
              <a:rPr dirty="0"/>
              <a:t> API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732520" y="3794760"/>
            <a:ext cx="2697480" cy="978408"/>
          </a:xfrm>
          <a:prstGeom prst="roundRect">
            <a:avLst/>
          </a:prstGeom>
          <a:solidFill>
            <a:srgbClr val="172341"/>
          </a:solidFill>
          <a:ln w="1905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732520" y="3794760"/>
            <a:ext cx="73152" cy="978408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897112" y="3904488"/>
            <a:ext cx="2423160" cy="22860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1220" b="1">
                <a:solidFill>
                  <a:srgbClr val="F2F7FF"/>
                </a:solidFill>
                <a:latin typeface="Aptos"/>
              </a:rPr>
              <a:t>Shared volumes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97112" y="4224528"/>
            <a:ext cx="2395728" cy="475488"/>
          </a:xfrm>
          <a:prstGeom prst="rect">
            <a:avLst/>
          </a:prstGeom>
          <a:noFill/>
        </p:spPr>
        <p:txBody>
          <a:bodyPr wrap="square" tIns="73152" bIns="73152">
            <a:spAutoFit/>
          </a:bodyPr>
          <a:lstStyle/>
          <a:p>
            <a:pPr>
              <a:spcAft>
                <a:spcPts val="400"/>
              </a:spcAft>
              <a:defRPr sz="910">
                <a:solidFill>
                  <a:srgbClr val="AABAD2"/>
                </a:solidFill>
                <a:latin typeface="Aptos"/>
              </a:defRPr>
            </a:pPr>
            <a:r>
              <a:t>dags, data, logs, config, plugins</a:t>
            </a:r>
          </a:p>
          <a:p>
            <a:pPr>
              <a:spcAft>
                <a:spcPts val="400"/>
              </a:spcAft>
              <a:defRPr sz="910">
                <a:solidFill>
                  <a:srgbClr val="AABAD2"/>
                </a:solidFill>
                <a:latin typeface="Aptos"/>
              </a:defRPr>
            </a:pPr>
            <a:r>
              <a:t>mounted under /opt/airflow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732520" y="4919472"/>
            <a:ext cx="2697480" cy="960120"/>
          </a:xfrm>
          <a:prstGeom prst="roundRect">
            <a:avLst/>
          </a:prstGeom>
          <a:solidFill>
            <a:srgbClr val="172341"/>
          </a:solidFill>
          <a:ln w="19050">
            <a:solidFill>
              <a:srgbClr val="97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8732520" y="4919472"/>
            <a:ext cx="73152" cy="960120"/>
          </a:xfrm>
          <a:prstGeom prst="rect">
            <a:avLst/>
          </a:prstGeom>
          <a:solidFill>
            <a:srgbClr val="97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897112" y="5029200"/>
            <a:ext cx="2423160" cy="22860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1220" b="1">
                <a:solidFill>
                  <a:srgbClr val="F2F7FF"/>
                </a:solidFill>
                <a:latin typeface="Aptos"/>
              </a:rPr>
              <a:t>.env settings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97112" y="5349240"/>
            <a:ext cx="2395728" cy="457200"/>
          </a:xfrm>
          <a:prstGeom prst="rect">
            <a:avLst/>
          </a:prstGeom>
          <a:noFill/>
        </p:spPr>
        <p:txBody>
          <a:bodyPr wrap="square" tIns="73152" bIns="73152">
            <a:spAutoFit/>
          </a:bodyPr>
          <a:lstStyle/>
          <a:p>
            <a:pPr>
              <a:spcAft>
                <a:spcPts val="400"/>
              </a:spcAft>
              <a:defRPr sz="910">
                <a:solidFill>
                  <a:srgbClr val="AABAD2"/>
                </a:solidFill>
                <a:latin typeface="Aptos"/>
              </a:defRPr>
            </a:pPr>
            <a:r>
              <a:t>Airflow image, UID, credentials</a:t>
            </a:r>
          </a:p>
          <a:p>
            <a:pPr>
              <a:spcAft>
                <a:spcPts val="400"/>
              </a:spcAft>
              <a:defRPr sz="910">
                <a:solidFill>
                  <a:srgbClr val="AABAD2"/>
                </a:solidFill>
                <a:latin typeface="Aptos"/>
              </a:defRPr>
            </a:pPr>
            <a:r>
              <a:t>provider requirements / connections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3429000" y="3776472"/>
            <a:ext cx="301752" cy="0"/>
          </a:xfrm>
          <a:prstGeom prst="line">
            <a:avLst/>
          </a:prstGeom>
          <a:ln w="25400">
            <a:solidFill>
              <a:srgbClr val="1CC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8211312" y="3776472"/>
            <a:ext cx="310896" cy="0"/>
          </a:xfrm>
          <a:prstGeom prst="line">
            <a:avLst/>
          </a:prstGeom>
          <a:ln w="25400">
            <a:solidFill>
              <a:srgbClr val="1CC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66928" y="6355080"/>
            <a:ext cx="1280160" cy="18288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900" b="1">
                <a:solidFill>
                  <a:srgbClr val="1CCFB8"/>
                </a:solidFill>
                <a:latin typeface="Aptos"/>
              </a:rPr>
              <a:t>Design note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89888" y="6355080"/>
            <a:ext cx="9875520" cy="18288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900" b="0">
                <a:solidFill>
                  <a:srgbClr val="AABAD2"/>
                </a:solidFill>
                <a:latin typeface="Aptos"/>
              </a:rPr>
              <a:t>Compose owns the Airflow runtime; MySQL warehouse and Ollama can run as local/external services reached through Airflow connections.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Airflow master DAG orchestration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31520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runs tests and staging in parallel, then dimensions and facts in dependency order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76656" y="3474720"/>
            <a:ext cx="10908792" cy="0"/>
          </a:xfrm>
          <a:prstGeom prst="line">
            <a:avLst/>
          </a:prstGeom>
          <a:noFill/>
          <a:ln w="29210">
            <a:solidFill>
              <a:srgbClr val="C5CD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02920" y="3182112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84632" y="3767328"/>
            <a:ext cx="59436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143000" y="1417320"/>
            <a:ext cx="1554480" cy="4096512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B8DEE2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252728" y="1572768"/>
            <a:ext cx="1335024" cy="502920"/>
          </a:xfrm>
          <a:prstGeom prst="roundRect">
            <a:avLst>
              <a:gd name="adj" fmla="val 21818"/>
            </a:avLst>
          </a:prstGeom>
          <a:solidFill>
            <a:srgbClr val="D8F3F5"/>
          </a:solidFill>
          <a:ln w="12700">
            <a:solidFill>
              <a:srgbClr val="D8F3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344168" y="1673352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17B83"/>
          </a:solidFill>
          <a:ln w="12700">
            <a:solidFill>
              <a:srgbClr val="017B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344168" y="1673352"/>
            <a:ext cx="292608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709928" y="1645920"/>
            <a:ext cx="80467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17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435608" y="2212848"/>
            <a:ext cx="960120" cy="292608"/>
          </a:xfrm>
          <a:prstGeom prst="roundRect">
            <a:avLst>
              <a:gd name="adj" fmla="val 37500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490472" y="2221992"/>
            <a:ext cx="850392" cy="265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PARALLEL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1362456" y="2798064"/>
            <a:ext cx="1115568" cy="338328"/>
          </a:xfrm>
          <a:prstGeom prst="roundRect">
            <a:avLst>
              <a:gd name="adj" fmla="val 24324"/>
            </a:avLst>
          </a:prstGeom>
          <a:solidFill>
            <a:srgbClr val="EEF2F7"/>
          </a:solidFill>
          <a:ln w="12700">
            <a:solidFill>
              <a:srgbClr val="D7DD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1399032" y="2816352"/>
            <a:ext cx="104241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243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mysql_test</a:t>
            </a:r>
            <a:endParaRPr lang="en-US" sz="770" dirty="0"/>
          </a:p>
        </p:txBody>
      </p:sp>
      <p:sp>
        <p:nvSpPr>
          <p:cNvPr id="16" name="Shape 14"/>
          <p:cNvSpPr/>
          <p:nvPr/>
        </p:nvSpPr>
        <p:spPr>
          <a:xfrm>
            <a:off x="1362456" y="3328416"/>
            <a:ext cx="1115568" cy="338328"/>
          </a:xfrm>
          <a:prstGeom prst="roundRect">
            <a:avLst>
              <a:gd name="adj" fmla="val 24324"/>
            </a:avLst>
          </a:prstGeom>
          <a:solidFill>
            <a:srgbClr val="EEF2F7"/>
          </a:solidFill>
          <a:ln w="12700">
            <a:solidFill>
              <a:srgbClr val="D7DD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1399032" y="3346704"/>
            <a:ext cx="104241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243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postgres_test</a:t>
            </a:r>
            <a:endParaRPr lang="en-US" sz="770" dirty="0"/>
          </a:p>
        </p:txBody>
      </p:sp>
      <p:sp>
        <p:nvSpPr>
          <p:cNvPr id="18" name="Text 16"/>
          <p:cNvSpPr/>
          <p:nvPr/>
        </p:nvSpPr>
        <p:spPr>
          <a:xfrm>
            <a:off x="1353312" y="4187952"/>
            <a:ext cx="1143000" cy="676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a failed child task is retried.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2971800" y="1115568"/>
            <a:ext cx="2697480" cy="4700016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2700">
            <a:solidFill>
              <a:srgbClr val="BFD0E4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3099816" y="1280160"/>
            <a:ext cx="2441448" cy="502920"/>
          </a:xfrm>
          <a:prstGeom prst="roundRect">
            <a:avLst>
              <a:gd name="adj" fmla="val 21818"/>
            </a:avLst>
          </a:prstGeom>
          <a:solidFill>
            <a:srgbClr val="E4EEFA"/>
          </a:solidFill>
          <a:ln w="12700">
            <a:solidFill>
              <a:srgbClr val="E4EE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3191256" y="1380744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191256" y="1380744"/>
            <a:ext cx="292608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557016" y="1353312"/>
            <a:ext cx="1911096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367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Staging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840480" y="1911096"/>
            <a:ext cx="960120" cy="292608"/>
          </a:xfrm>
          <a:prstGeom prst="roundRect">
            <a:avLst>
              <a:gd name="adj" fmla="val 37500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3895344" y="1920240"/>
            <a:ext cx="850392" cy="265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PARALLEL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3182112" y="2487168"/>
            <a:ext cx="1042416" cy="338328"/>
          </a:xfrm>
          <a:prstGeom prst="roundRect">
            <a:avLst>
              <a:gd name="adj" fmla="val 24324"/>
            </a:avLst>
          </a:prstGeom>
          <a:solidFill>
            <a:srgbClr val="E4EEFA"/>
          </a:solidFill>
          <a:ln w="12700">
            <a:solidFill>
              <a:srgbClr val="BFD0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3218688" y="2505456"/>
            <a:ext cx="96926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3367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staging_countries</a:t>
            </a:r>
            <a:endParaRPr lang="en-US" sz="770" dirty="0"/>
          </a:p>
        </p:txBody>
      </p:sp>
      <p:sp>
        <p:nvSpPr>
          <p:cNvPr id="28" name="Shape 26"/>
          <p:cNvSpPr/>
          <p:nvPr/>
        </p:nvSpPr>
        <p:spPr>
          <a:xfrm>
            <a:off x="4389120" y="2487168"/>
            <a:ext cx="1042416" cy="338328"/>
          </a:xfrm>
          <a:prstGeom prst="roundRect">
            <a:avLst>
              <a:gd name="adj" fmla="val 24324"/>
            </a:avLst>
          </a:prstGeom>
          <a:solidFill>
            <a:srgbClr val="E4EEFA"/>
          </a:solidFill>
          <a:ln w="12700">
            <a:solidFill>
              <a:srgbClr val="BFD0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4425696" y="2505456"/>
            <a:ext cx="10515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3367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staging_country_alias</a:t>
            </a:r>
            <a:endParaRPr lang="en-US" sz="770" dirty="0"/>
          </a:p>
        </p:txBody>
      </p:sp>
      <p:sp>
        <p:nvSpPr>
          <p:cNvPr id="30" name="Shape 28"/>
          <p:cNvSpPr/>
          <p:nvPr/>
        </p:nvSpPr>
        <p:spPr>
          <a:xfrm>
            <a:off x="3182112" y="3054096"/>
            <a:ext cx="1042416" cy="338328"/>
          </a:xfrm>
          <a:prstGeom prst="roundRect">
            <a:avLst>
              <a:gd name="adj" fmla="val 24324"/>
            </a:avLst>
          </a:prstGeom>
          <a:solidFill>
            <a:srgbClr val="E4EEFA"/>
          </a:solidFill>
          <a:ln w="12700">
            <a:solidFill>
              <a:srgbClr val="BFD0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3218688" y="3072384"/>
            <a:ext cx="96926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3367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staging_drinks</a:t>
            </a:r>
            <a:endParaRPr lang="en-US" sz="770" dirty="0"/>
          </a:p>
        </p:txBody>
      </p:sp>
      <p:sp>
        <p:nvSpPr>
          <p:cNvPr id="32" name="Shape 30"/>
          <p:cNvSpPr/>
          <p:nvPr/>
        </p:nvSpPr>
        <p:spPr>
          <a:xfrm>
            <a:off x="4389120" y="3054096"/>
            <a:ext cx="1042416" cy="338328"/>
          </a:xfrm>
          <a:prstGeom prst="roundRect">
            <a:avLst>
              <a:gd name="adj" fmla="val 24324"/>
            </a:avLst>
          </a:prstGeom>
          <a:solidFill>
            <a:srgbClr val="E4EEFA"/>
          </a:solidFill>
          <a:ln w="12700">
            <a:solidFill>
              <a:srgbClr val="BFD0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4425696" y="3072384"/>
            <a:ext cx="96926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3367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staging_expectancy</a:t>
            </a:r>
            <a:endParaRPr lang="en-US" sz="770" dirty="0"/>
          </a:p>
        </p:txBody>
      </p:sp>
      <p:sp>
        <p:nvSpPr>
          <p:cNvPr id="34" name="Shape 32"/>
          <p:cNvSpPr/>
          <p:nvPr/>
        </p:nvSpPr>
        <p:spPr>
          <a:xfrm>
            <a:off x="3182112" y="3621024"/>
            <a:ext cx="1042416" cy="338328"/>
          </a:xfrm>
          <a:prstGeom prst="roundRect">
            <a:avLst>
              <a:gd name="adj" fmla="val 24324"/>
            </a:avLst>
          </a:prstGeom>
          <a:solidFill>
            <a:srgbClr val="E4EEFA"/>
          </a:solidFill>
          <a:ln w="12700">
            <a:solidFill>
              <a:srgbClr val="BFD0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3218688" y="3639312"/>
            <a:ext cx="96926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3367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staging_happiness</a:t>
            </a:r>
            <a:endParaRPr lang="en-US" sz="770" dirty="0"/>
          </a:p>
        </p:txBody>
      </p:sp>
      <p:sp>
        <p:nvSpPr>
          <p:cNvPr id="36" name="Shape 34"/>
          <p:cNvSpPr/>
          <p:nvPr/>
        </p:nvSpPr>
        <p:spPr>
          <a:xfrm>
            <a:off x="4389120" y="3621024"/>
            <a:ext cx="1042416" cy="338328"/>
          </a:xfrm>
          <a:prstGeom prst="roundRect">
            <a:avLst>
              <a:gd name="adj" fmla="val 24324"/>
            </a:avLst>
          </a:prstGeom>
          <a:solidFill>
            <a:srgbClr val="E4EEFA"/>
          </a:solidFill>
          <a:ln w="12700">
            <a:solidFill>
              <a:srgbClr val="BFD0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4425696" y="3639312"/>
            <a:ext cx="96926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3367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staging_subdivisions</a:t>
            </a:r>
            <a:endParaRPr lang="en-US" sz="770" dirty="0"/>
          </a:p>
        </p:txBody>
      </p:sp>
      <p:sp>
        <p:nvSpPr>
          <p:cNvPr id="38" name="Shape 36"/>
          <p:cNvSpPr/>
          <p:nvPr/>
        </p:nvSpPr>
        <p:spPr>
          <a:xfrm>
            <a:off x="3182112" y="4187952"/>
            <a:ext cx="1042416" cy="338328"/>
          </a:xfrm>
          <a:prstGeom prst="roundRect">
            <a:avLst>
              <a:gd name="adj" fmla="val 24324"/>
            </a:avLst>
          </a:prstGeom>
          <a:solidFill>
            <a:srgbClr val="E4EEFA"/>
          </a:solidFill>
          <a:ln w="12700">
            <a:solidFill>
              <a:srgbClr val="BFD0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3218688" y="4206240"/>
            <a:ext cx="96926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3367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staging_vehicles</a:t>
            </a:r>
            <a:endParaRPr lang="en-US" sz="770" dirty="0"/>
          </a:p>
        </p:txBody>
      </p:sp>
      <p:sp>
        <p:nvSpPr>
          <p:cNvPr id="40" name="Shape 38"/>
          <p:cNvSpPr/>
          <p:nvPr/>
        </p:nvSpPr>
        <p:spPr>
          <a:xfrm>
            <a:off x="4389120" y="4187952"/>
            <a:ext cx="1042416" cy="338328"/>
          </a:xfrm>
          <a:prstGeom prst="roundRect">
            <a:avLst>
              <a:gd name="adj" fmla="val 24324"/>
            </a:avLst>
          </a:prstGeom>
          <a:solidFill>
            <a:srgbClr val="E4EEFA"/>
          </a:solidFill>
          <a:ln w="12700">
            <a:solidFill>
              <a:srgbClr val="BFD0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4425696" y="4206240"/>
            <a:ext cx="96926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3367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staging_worldcities</a:t>
            </a:r>
            <a:endParaRPr lang="en-US" sz="770" dirty="0"/>
          </a:p>
        </p:txBody>
      </p:sp>
      <p:sp>
        <p:nvSpPr>
          <p:cNvPr id="42" name="Text 40"/>
          <p:cNvSpPr/>
          <p:nvPr/>
        </p:nvSpPr>
        <p:spPr>
          <a:xfrm>
            <a:off x="3246120" y="4965192"/>
            <a:ext cx="214884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source load is represented by its own task.</a:t>
            </a:r>
            <a:endParaRPr lang="en-US" sz="830" dirty="0"/>
          </a:p>
        </p:txBody>
      </p:sp>
      <p:sp>
        <p:nvSpPr>
          <p:cNvPr id="43" name="Shape 41"/>
          <p:cNvSpPr/>
          <p:nvPr/>
        </p:nvSpPr>
        <p:spPr>
          <a:xfrm>
            <a:off x="5989320" y="1417320"/>
            <a:ext cx="2157984" cy="409651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9CFF0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6108192" y="1572768"/>
            <a:ext cx="1920240" cy="502920"/>
          </a:xfrm>
          <a:prstGeom prst="roundRect">
            <a:avLst>
              <a:gd name="adj" fmla="val 21818"/>
            </a:avLst>
          </a:prstGeom>
          <a:solidFill>
            <a:srgbClr val="EEE9FA"/>
          </a:solidFill>
          <a:ln w="12700">
            <a:solidFill>
              <a:srgbClr val="EEE9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6199632" y="1673352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6D4AB5"/>
          </a:solidFill>
          <a:ln w="12700">
            <a:solidFill>
              <a:srgbClr val="6D4AB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6199632" y="1673352"/>
            <a:ext cx="292608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565392" y="1645920"/>
            <a:ext cx="1389888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6D4A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Dimensions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6492240" y="2212848"/>
            <a:ext cx="1143000" cy="292608"/>
          </a:xfrm>
          <a:prstGeom prst="roundRect">
            <a:avLst>
              <a:gd name="adj" fmla="val 37500"/>
            </a:avLst>
          </a:prstGeom>
          <a:solidFill>
            <a:srgbClr val="EEE9FA"/>
          </a:solidFill>
          <a:ln w="12700">
            <a:solidFill>
              <a:srgbClr val="EEE9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6547104" y="2221992"/>
            <a:ext cx="1033272" cy="265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6D4A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SEQUENTIAL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>
            <a:off x="6291072" y="2743200"/>
            <a:ext cx="1554480" cy="338328"/>
          </a:xfrm>
          <a:prstGeom prst="roundRect">
            <a:avLst>
              <a:gd name="adj" fmla="val 24324"/>
            </a:avLst>
          </a:prstGeom>
          <a:solidFill>
            <a:srgbClr val="EEF2F7"/>
          </a:solidFill>
          <a:ln w="12700">
            <a:solidFill>
              <a:srgbClr val="D7DD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/>
          <p:nvPr/>
        </p:nvSpPr>
        <p:spPr>
          <a:xfrm>
            <a:off x="6327648" y="2761488"/>
            <a:ext cx="1481328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243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dw_d_geo</a:t>
            </a:r>
            <a:endParaRPr lang="en-US" sz="770" dirty="0"/>
          </a:p>
        </p:txBody>
      </p:sp>
      <p:sp>
        <p:nvSpPr>
          <p:cNvPr id="52" name="Shape 50"/>
          <p:cNvSpPr/>
          <p:nvPr/>
        </p:nvSpPr>
        <p:spPr>
          <a:xfrm>
            <a:off x="7068312" y="3099816"/>
            <a:ext cx="0" cy="118872"/>
          </a:xfrm>
          <a:prstGeom prst="line">
            <a:avLst/>
          </a:prstGeom>
          <a:noFill/>
          <a:ln w="12700">
            <a:solidFill>
              <a:srgbClr val="6D4AB5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53" name="Shape 51"/>
          <p:cNvSpPr/>
          <p:nvPr/>
        </p:nvSpPr>
        <p:spPr>
          <a:xfrm>
            <a:off x="6291072" y="3273552"/>
            <a:ext cx="1554480" cy="338328"/>
          </a:xfrm>
          <a:prstGeom prst="roundRect">
            <a:avLst>
              <a:gd name="adj" fmla="val 24324"/>
            </a:avLst>
          </a:prstGeom>
          <a:solidFill>
            <a:srgbClr val="EEF2F7"/>
          </a:solidFill>
          <a:ln w="12700">
            <a:solidFill>
              <a:srgbClr val="D7DD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52"/>
          <p:cNvSpPr/>
          <p:nvPr/>
        </p:nvSpPr>
        <p:spPr>
          <a:xfrm>
            <a:off x="6327648" y="3291840"/>
            <a:ext cx="1481328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243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dw_d_cities</a:t>
            </a:r>
            <a:endParaRPr lang="en-US" sz="770" dirty="0"/>
          </a:p>
        </p:txBody>
      </p:sp>
      <p:sp>
        <p:nvSpPr>
          <p:cNvPr id="55" name="Shape 53"/>
          <p:cNvSpPr/>
          <p:nvPr/>
        </p:nvSpPr>
        <p:spPr>
          <a:xfrm>
            <a:off x="7068312" y="3630168"/>
            <a:ext cx="0" cy="118872"/>
          </a:xfrm>
          <a:prstGeom prst="line">
            <a:avLst/>
          </a:prstGeom>
          <a:noFill/>
          <a:ln w="12700">
            <a:solidFill>
              <a:srgbClr val="6D4AB5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6291072" y="3803904"/>
            <a:ext cx="1554480" cy="338328"/>
          </a:xfrm>
          <a:prstGeom prst="roundRect">
            <a:avLst>
              <a:gd name="adj" fmla="val 24324"/>
            </a:avLst>
          </a:prstGeom>
          <a:solidFill>
            <a:srgbClr val="EEF2F7"/>
          </a:solidFill>
          <a:ln w="12700">
            <a:solidFill>
              <a:srgbClr val="D7DD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Text 55"/>
          <p:cNvSpPr/>
          <p:nvPr/>
        </p:nvSpPr>
        <p:spPr>
          <a:xfrm>
            <a:off x="6327648" y="3822192"/>
            <a:ext cx="1481328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243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dw_d_drinks</a:t>
            </a:r>
            <a:endParaRPr lang="en-US" sz="770" dirty="0"/>
          </a:p>
        </p:txBody>
      </p:sp>
      <p:sp>
        <p:nvSpPr>
          <p:cNvPr id="58" name="Shape 56"/>
          <p:cNvSpPr/>
          <p:nvPr/>
        </p:nvSpPr>
        <p:spPr>
          <a:xfrm>
            <a:off x="7068312" y="4160520"/>
            <a:ext cx="0" cy="118872"/>
          </a:xfrm>
          <a:prstGeom prst="line">
            <a:avLst/>
          </a:prstGeom>
          <a:noFill/>
          <a:ln w="12700">
            <a:solidFill>
              <a:srgbClr val="6D4AB5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59" name="Shape 57"/>
          <p:cNvSpPr/>
          <p:nvPr/>
        </p:nvSpPr>
        <p:spPr>
          <a:xfrm>
            <a:off x="6291072" y="4334256"/>
            <a:ext cx="1554480" cy="338328"/>
          </a:xfrm>
          <a:prstGeom prst="roundRect">
            <a:avLst>
              <a:gd name="adj" fmla="val 24324"/>
            </a:avLst>
          </a:prstGeom>
          <a:solidFill>
            <a:srgbClr val="EEF2F7"/>
          </a:solidFill>
          <a:ln w="12700">
            <a:solidFill>
              <a:srgbClr val="D7DD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Text 58"/>
          <p:cNvSpPr/>
          <p:nvPr/>
        </p:nvSpPr>
        <p:spPr>
          <a:xfrm>
            <a:off x="6327648" y="4352544"/>
            <a:ext cx="1481328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243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dw_d_happiness</a:t>
            </a:r>
            <a:endParaRPr lang="en-US" sz="770" dirty="0"/>
          </a:p>
        </p:txBody>
      </p:sp>
      <p:sp>
        <p:nvSpPr>
          <p:cNvPr id="61" name="Shape 59"/>
          <p:cNvSpPr/>
          <p:nvPr/>
        </p:nvSpPr>
        <p:spPr>
          <a:xfrm>
            <a:off x="8458200" y="1417320"/>
            <a:ext cx="2249424" cy="4096512"/>
          </a:xfrm>
          <a:prstGeom prst="roundRect">
            <a:avLst>
              <a:gd name="adj" fmla="val 5691"/>
            </a:avLst>
          </a:prstGeom>
          <a:solidFill>
            <a:srgbClr val="FFFFFF"/>
          </a:solidFill>
          <a:ln w="12700">
            <a:solidFill>
              <a:srgbClr val="F0C995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2" name="Shape 60"/>
          <p:cNvSpPr/>
          <p:nvPr/>
        </p:nvSpPr>
        <p:spPr>
          <a:xfrm>
            <a:off x="8577072" y="1572768"/>
            <a:ext cx="2011680" cy="502920"/>
          </a:xfrm>
          <a:prstGeom prst="roundRect">
            <a:avLst>
              <a:gd name="adj" fmla="val 21818"/>
            </a:avLst>
          </a:prstGeom>
          <a:solidFill>
            <a:srgbClr val="FFF0DE"/>
          </a:solidFill>
          <a:ln w="12700">
            <a:solidFill>
              <a:srgbClr val="FFF0D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Shape 61"/>
          <p:cNvSpPr/>
          <p:nvPr/>
        </p:nvSpPr>
        <p:spPr>
          <a:xfrm>
            <a:off x="8668512" y="1673352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48E00"/>
          </a:solidFill>
          <a:ln w="12700">
            <a:solidFill>
              <a:srgbClr val="E48E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Text 62"/>
          <p:cNvSpPr/>
          <p:nvPr/>
        </p:nvSpPr>
        <p:spPr>
          <a:xfrm>
            <a:off x="8668512" y="1673352"/>
            <a:ext cx="292608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9034272" y="1645920"/>
            <a:ext cx="1481328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48E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Facts</a:t>
            </a:r>
            <a:endParaRPr lang="en-US" sz="1250" dirty="0"/>
          </a:p>
        </p:txBody>
      </p:sp>
      <p:sp>
        <p:nvSpPr>
          <p:cNvPr id="66" name="Shape 64"/>
          <p:cNvSpPr/>
          <p:nvPr/>
        </p:nvSpPr>
        <p:spPr>
          <a:xfrm>
            <a:off x="9025128" y="2212848"/>
            <a:ext cx="1143000" cy="292608"/>
          </a:xfrm>
          <a:prstGeom prst="roundRect">
            <a:avLst>
              <a:gd name="adj" fmla="val 37500"/>
            </a:avLst>
          </a:prstGeom>
          <a:solidFill>
            <a:srgbClr val="FFF0DE"/>
          </a:solidFill>
          <a:ln w="12700">
            <a:solidFill>
              <a:srgbClr val="FFF0D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Text 65"/>
          <p:cNvSpPr/>
          <p:nvPr/>
        </p:nvSpPr>
        <p:spPr>
          <a:xfrm>
            <a:off x="9079992" y="2221992"/>
            <a:ext cx="1033272" cy="265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E48E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SEQUENTIAL</a:t>
            </a:r>
            <a:endParaRPr lang="en-US" sz="820" dirty="0"/>
          </a:p>
        </p:txBody>
      </p:sp>
      <p:sp>
        <p:nvSpPr>
          <p:cNvPr id="68" name="Shape 66"/>
          <p:cNvSpPr/>
          <p:nvPr/>
        </p:nvSpPr>
        <p:spPr>
          <a:xfrm>
            <a:off x="8714232" y="2743200"/>
            <a:ext cx="1719072" cy="338328"/>
          </a:xfrm>
          <a:prstGeom prst="roundRect">
            <a:avLst>
              <a:gd name="adj" fmla="val 24324"/>
            </a:avLst>
          </a:prstGeom>
          <a:solidFill>
            <a:srgbClr val="EEF2F7"/>
          </a:solidFill>
          <a:ln w="12700">
            <a:solidFill>
              <a:srgbClr val="D7DD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Text 67"/>
          <p:cNvSpPr/>
          <p:nvPr/>
        </p:nvSpPr>
        <p:spPr>
          <a:xfrm>
            <a:off x="8750808" y="2761488"/>
            <a:ext cx="16459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243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dw_f_country_drinks</a:t>
            </a:r>
            <a:endParaRPr lang="en-US" sz="770" dirty="0"/>
          </a:p>
        </p:txBody>
      </p:sp>
      <p:sp>
        <p:nvSpPr>
          <p:cNvPr id="70" name="Shape 68"/>
          <p:cNvSpPr/>
          <p:nvPr/>
        </p:nvSpPr>
        <p:spPr>
          <a:xfrm>
            <a:off x="9573768" y="3099816"/>
            <a:ext cx="0" cy="118872"/>
          </a:xfrm>
          <a:prstGeom prst="line">
            <a:avLst/>
          </a:prstGeom>
          <a:noFill/>
          <a:ln w="12700">
            <a:solidFill>
              <a:srgbClr val="E48E0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71" name="Shape 69"/>
          <p:cNvSpPr/>
          <p:nvPr/>
        </p:nvSpPr>
        <p:spPr>
          <a:xfrm>
            <a:off x="8714232" y="3273552"/>
            <a:ext cx="1719072" cy="338328"/>
          </a:xfrm>
          <a:prstGeom prst="roundRect">
            <a:avLst>
              <a:gd name="adj" fmla="val 24324"/>
            </a:avLst>
          </a:prstGeom>
          <a:solidFill>
            <a:srgbClr val="EEF2F7"/>
          </a:solidFill>
          <a:ln w="12700">
            <a:solidFill>
              <a:srgbClr val="D7DD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" name="Text 70"/>
          <p:cNvSpPr/>
          <p:nvPr/>
        </p:nvSpPr>
        <p:spPr>
          <a:xfrm>
            <a:off x="8750808" y="3291840"/>
            <a:ext cx="16459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243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dw_f_country_happiness</a:t>
            </a:r>
            <a:endParaRPr lang="en-US" sz="770" dirty="0"/>
          </a:p>
        </p:txBody>
      </p:sp>
      <p:sp>
        <p:nvSpPr>
          <p:cNvPr id="73" name="Shape 71"/>
          <p:cNvSpPr/>
          <p:nvPr/>
        </p:nvSpPr>
        <p:spPr>
          <a:xfrm>
            <a:off x="9573768" y="3630168"/>
            <a:ext cx="0" cy="118872"/>
          </a:xfrm>
          <a:prstGeom prst="line">
            <a:avLst/>
          </a:prstGeom>
          <a:noFill/>
          <a:ln w="12700">
            <a:solidFill>
              <a:srgbClr val="E48E0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74" name="Shape 72"/>
          <p:cNvSpPr/>
          <p:nvPr/>
        </p:nvSpPr>
        <p:spPr>
          <a:xfrm>
            <a:off x="8714232" y="3803904"/>
            <a:ext cx="1719072" cy="338328"/>
          </a:xfrm>
          <a:prstGeom prst="roundRect">
            <a:avLst>
              <a:gd name="adj" fmla="val 24324"/>
            </a:avLst>
          </a:prstGeom>
          <a:solidFill>
            <a:srgbClr val="EEF2F7"/>
          </a:solidFill>
          <a:ln w="12700">
            <a:solidFill>
              <a:srgbClr val="D7DD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Text 73"/>
          <p:cNvSpPr/>
          <p:nvPr/>
        </p:nvSpPr>
        <p:spPr>
          <a:xfrm>
            <a:off x="8750808" y="3822192"/>
            <a:ext cx="16459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243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dw_f_country_vehicles</a:t>
            </a:r>
            <a:endParaRPr lang="en-US" sz="770" dirty="0"/>
          </a:p>
        </p:txBody>
      </p:sp>
      <p:sp>
        <p:nvSpPr>
          <p:cNvPr id="76" name="Shape 74"/>
          <p:cNvSpPr/>
          <p:nvPr/>
        </p:nvSpPr>
        <p:spPr>
          <a:xfrm>
            <a:off x="9573768" y="4160520"/>
            <a:ext cx="0" cy="118872"/>
          </a:xfrm>
          <a:prstGeom prst="line">
            <a:avLst/>
          </a:prstGeom>
          <a:noFill/>
          <a:ln w="12700">
            <a:solidFill>
              <a:srgbClr val="E48E0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77" name="Shape 75"/>
          <p:cNvSpPr/>
          <p:nvPr/>
        </p:nvSpPr>
        <p:spPr>
          <a:xfrm>
            <a:off x="8714232" y="4334256"/>
            <a:ext cx="1719072" cy="338328"/>
          </a:xfrm>
          <a:prstGeom prst="roundRect">
            <a:avLst>
              <a:gd name="adj" fmla="val 24324"/>
            </a:avLst>
          </a:prstGeom>
          <a:solidFill>
            <a:srgbClr val="EEF2F7"/>
          </a:solidFill>
          <a:ln w="12700">
            <a:solidFill>
              <a:srgbClr val="D7DD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8" name="Text 76"/>
          <p:cNvSpPr/>
          <p:nvPr/>
        </p:nvSpPr>
        <p:spPr>
          <a:xfrm>
            <a:off x="8750808" y="4352544"/>
            <a:ext cx="16459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243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dw_f_observation_city</a:t>
            </a:r>
            <a:endParaRPr lang="en-US" sz="770" dirty="0"/>
          </a:p>
        </p:txBody>
      </p:sp>
      <p:sp>
        <p:nvSpPr>
          <p:cNvPr id="79" name="Shape 77"/>
          <p:cNvSpPr/>
          <p:nvPr/>
        </p:nvSpPr>
        <p:spPr>
          <a:xfrm>
            <a:off x="11018520" y="3182112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0" name="Text 78"/>
          <p:cNvSpPr/>
          <p:nvPr/>
        </p:nvSpPr>
        <p:spPr>
          <a:xfrm>
            <a:off x="11000232" y="3767328"/>
            <a:ext cx="59436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1014984" y="3438144"/>
            <a:ext cx="128016" cy="0"/>
          </a:xfrm>
          <a:prstGeom prst="line">
            <a:avLst/>
          </a:prstGeom>
          <a:noFill/>
          <a:ln w="22860">
            <a:solidFill>
              <a:srgbClr val="243B5A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2" name="Shape 80"/>
          <p:cNvSpPr/>
          <p:nvPr/>
        </p:nvSpPr>
        <p:spPr>
          <a:xfrm>
            <a:off x="2697480" y="3438144"/>
            <a:ext cx="274320" cy="0"/>
          </a:xfrm>
          <a:prstGeom prst="line">
            <a:avLst/>
          </a:prstGeom>
          <a:noFill/>
          <a:ln w="22860">
            <a:solidFill>
              <a:srgbClr val="243B5A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3" name="Shape 81"/>
          <p:cNvSpPr/>
          <p:nvPr/>
        </p:nvSpPr>
        <p:spPr>
          <a:xfrm>
            <a:off x="5669280" y="3438144"/>
            <a:ext cx="320040" cy="0"/>
          </a:xfrm>
          <a:prstGeom prst="line">
            <a:avLst/>
          </a:prstGeom>
          <a:noFill/>
          <a:ln w="22860">
            <a:solidFill>
              <a:srgbClr val="243B5A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4" name="Shape 82"/>
          <p:cNvSpPr/>
          <p:nvPr/>
        </p:nvSpPr>
        <p:spPr>
          <a:xfrm>
            <a:off x="8147304" y="3438144"/>
            <a:ext cx="310896" cy="0"/>
          </a:xfrm>
          <a:prstGeom prst="line">
            <a:avLst/>
          </a:prstGeom>
          <a:noFill/>
          <a:ln w="22860">
            <a:solidFill>
              <a:srgbClr val="243B5A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5" name="Shape 83"/>
          <p:cNvSpPr/>
          <p:nvPr/>
        </p:nvSpPr>
        <p:spPr>
          <a:xfrm>
            <a:off x="10707624" y="3438144"/>
            <a:ext cx="310896" cy="0"/>
          </a:xfrm>
          <a:prstGeom prst="line">
            <a:avLst/>
          </a:prstGeom>
          <a:noFill/>
          <a:ln w="22860">
            <a:solidFill>
              <a:srgbClr val="243B5A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6" name="Shape 84"/>
          <p:cNvSpPr/>
          <p:nvPr/>
        </p:nvSpPr>
        <p:spPr>
          <a:xfrm>
            <a:off x="685800" y="5971032"/>
            <a:ext cx="10817352" cy="347472"/>
          </a:xfrm>
          <a:prstGeom prst="roundRect">
            <a:avLst>
              <a:gd name="adj" fmla="val 2368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7" name="Text 85"/>
          <p:cNvSpPr/>
          <p:nvPr/>
        </p:nvSpPr>
        <p:spPr>
          <a:xfrm>
            <a:off x="877824" y="6007608"/>
            <a:ext cx="10424160" cy="265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Retry behavior: parallel sections rerun only the failed child DAG task; sequential sections retain one task per child DAG and retry from the failed step.</a:t>
            </a:r>
            <a:endParaRPr lang="en-US" sz="930" dirty="0"/>
          </a:p>
        </p:txBody>
      </p:sp>
      <p:sp>
        <p:nvSpPr>
          <p:cNvPr id="8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10312"/>
          </a:xfrm>
          <a:prstGeom prst="rect">
            <a:avLst/>
          </a:prstGeom>
          <a:solidFill>
            <a:srgbClr val="1CC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43891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2700" b="1">
                <a:solidFill>
                  <a:srgbClr val="F2F7FF"/>
                </a:solidFill>
                <a:latin typeface="Aptos"/>
              </a:rPr>
              <a:t>Fuzzy matching country aliases with Ollama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972800" cy="27432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1250" b="0">
                <a:solidFill>
                  <a:srgbClr val="AABAD2"/>
                </a:solidFill>
                <a:latin typeface="Aptos"/>
              </a:rPr>
              <a:t>dw_country_alias.py uses database-first checks, then a local LLM fallback to normalize country names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874519" cy="1417320"/>
          </a:xfrm>
          <a:prstGeom prst="roundRect">
            <a:avLst/>
          </a:prstGeom>
          <a:solidFill>
            <a:srgbClr val="121F3D"/>
          </a:solidFill>
          <a:ln w="19050">
            <a:solidFill>
              <a:srgbClr val="46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73152" cy="1417320"/>
          </a:xfrm>
          <a:prstGeom prst="rect">
            <a:avLst/>
          </a:prstGeom>
          <a:solidFill>
            <a:srgbClr val="46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938528"/>
            <a:ext cx="1600199" cy="22860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1320" b="1">
                <a:solidFill>
                  <a:srgbClr val="F2F7FF"/>
                </a:solidFill>
                <a:latin typeface="Aptos"/>
              </a:rPr>
              <a:t>Raw aliases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258568"/>
            <a:ext cx="1572767" cy="914400"/>
          </a:xfrm>
          <a:prstGeom prst="rect">
            <a:avLst/>
          </a:prstGeom>
          <a:noFill/>
        </p:spPr>
        <p:txBody>
          <a:bodyPr wrap="square" tIns="73152" bIns="73152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AABAD2"/>
                </a:solidFill>
                <a:latin typeface="Aptos"/>
              </a:defRPr>
            </a:pPr>
            <a:r>
              <a:t>SELECT DISTINCT country</a:t>
            </a:r>
          </a:p>
          <a:p>
            <a:pPr>
              <a:spcAft>
                <a:spcPts val="400"/>
              </a:spcAft>
              <a:defRPr sz="919">
                <a:solidFill>
                  <a:srgbClr val="AABAD2"/>
                </a:solidFill>
                <a:latin typeface="Aptos"/>
              </a:defRPr>
            </a:pPr>
            <a:r>
              <a:t>from selected staging table</a:t>
            </a:r>
          </a:p>
          <a:p>
            <a:pPr>
              <a:spcAft>
                <a:spcPts val="400"/>
              </a:spcAft>
              <a:defRPr sz="919">
                <a:solidFill>
                  <a:srgbClr val="AABAD2"/>
                </a:solidFill>
                <a:latin typeface="Aptos"/>
              </a:defRPr>
            </a:pPr>
            <a:r>
              <a:t>drinks / vehicles / happiness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1828800"/>
            <a:ext cx="1874519" cy="1417320"/>
          </a:xfrm>
          <a:prstGeom prst="roundRect">
            <a:avLst/>
          </a:prstGeom>
          <a:solidFill>
            <a:srgbClr val="121F3D"/>
          </a:solidFill>
          <a:ln w="19050">
            <a:solidFill>
              <a:srgbClr val="1CC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61488" y="1828800"/>
            <a:ext cx="73152" cy="1417320"/>
          </a:xfrm>
          <a:prstGeom prst="rect">
            <a:avLst/>
          </a:prstGeom>
          <a:solidFill>
            <a:srgbClr val="1CC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26080" y="1938528"/>
            <a:ext cx="1600199" cy="22860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1320" b="1">
                <a:solidFill>
                  <a:srgbClr val="F2F7FF"/>
                </a:solidFill>
                <a:latin typeface="Aptos"/>
              </a:rPr>
              <a:t>DB-first checks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258568"/>
            <a:ext cx="1572767" cy="914400"/>
          </a:xfrm>
          <a:prstGeom prst="rect">
            <a:avLst/>
          </a:prstGeom>
          <a:noFill/>
        </p:spPr>
        <p:txBody>
          <a:bodyPr wrap="square" tIns="73152" bIns="73152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AABAD2"/>
                </a:solidFill>
                <a:latin typeface="Aptos"/>
              </a:defRPr>
            </a:pPr>
            <a:r>
              <a:t>staging.countries</a:t>
            </a:r>
          </a:p>
          <a:p>
            <a:pPr>
              <a:spcAft>
                <a:spcPts val="400"/>
              </a:spcAft>
              <a:defRPr sz="919">
                <a:solidFill>
                  <a:srgbClr val="AABAD2"/>
                </a:solidFill>
                <a:latin typeface="Aptos"/>
              </a:defRPr>
            </a:pPr>
            <a:r>
              <a:t>staging.country_alias</a:t>
            </a:r>
          </a:p>
          <a:p>
            <a:pPr>
              <a:spcAft>
                <a:spcPts val="400"/>
              </a:spcAft>
              <a:defRPr sz="919">
                <a:solidFill>
                  <a:srgbClr val="AABAD2"/>
                </a:solidFill>
                <a:latin typeface="Aptos"/>
              </a:defRPr>
            </a:pPr>
            <a:r>
              <a:t>fast exact/known mapping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10912" y="1828800"/>
            <a:ext cx="1874519" cy="1417320"/>
          </a:xfrm>
          <a:prstGeom prst="roundRect">
            <a:avLst/>
          </a:prstGeom>
          <a:solidFill>
            <a:srgbClr val="121F3D"/>
          </a:solidFill>
          <a:ln w="19050">
            <a:solidFill>
              <a:srgbClr val="97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10912" y="1828800"/>
            <a:ext cx="73152" cy="1417320"/>
          </a:xfrm>
          <a:prstGeom prst="rect">
            <a:avLst/>
          </a:prstGeom>
          <a:solidFill>
            <a:srgbClr val="97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75504" y="1938528"/>
            <a:ext cx="1600199" cy="22860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1320" b="1">
                <a:solidFill>
                  <a:srgbClr val="F2F7FF"/>
                </a:solidFill>
                <a:latin typeface="Aptos"/>
              </a:rPr>
              <a:t>Ollama fallback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75504" y="2258568"/>
            <a:ext cx="1572767" cy="914400"/>
          </a:xfrm>
          <a:prstGeom prst="rect">
            <a:avLst/>
          </a:prstGeom>
          <a:noFill/>
        </p:spPr>
        <p:txBody>
          <a:bodyPr wrap="square" tIns="73152" bIns="73152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AABAD2"/>
                </a:solidFill>
                <a:latin typeface="Aptos"/>
              </a:defRPr>
            </a:pPr>
            <a:r>
              <a:t>Airflow HttpHook</a:t>
            </a:r>
          </a:p>
          <a:p>
            <a:pPr>
              <a:spcAft>
                <a:spcPts val="400"/>
              </a:spcAft>
              <a:defRPr sz="919">
                <a:solidFill>
                  <a:srgbClr val="AABAD2"/>
                </a:solidFill>
                <a:latin typeface="Aptos"/>
              </a:defRPr>
            </a:pPr>
            <a:r>
              <a:t>conn_id = Ollama</a:t>
            </a:r>
          </a:p>
          <a:p>
            <a:pPr>
              <a:spcAft>
                <a:spcPts val="400"/>
              </a:spcAft>
              <a:defRPr sz="919">
                <a:solidFill>
                  <a:srgbClr val="AABAD2"/>
                </a:solidFill>
                <a:latin typeface="Aptos"/>
              </a:defRPr>
            </a:pPr>
            <a:r>
              <a:t>POST /api/chat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80" y="1828800"/>
            <a:ext cx="1874519" cy="1417320"/>
          </a:xfrm>
          <a:prstGeom prst="roundRect">
            <a:avLst/>
          </a:prstGeom>
          <a:solidFill>
            <a:srgbClr val="121F3D"/>
          </a:solidFill>
          <a:ln w="1905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269480" y="1828800"/>
            <a:ext cx="73152" cy="1417320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34072" y="1938528"/>
            <a:ext cx="1600199" cy="22860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1320" b="1">
                <a:solidFill>
                  <a:srgbClr val="F2F7FF"/>
                </a:solidFill>
                <a:latin typeface="Aptos"/>
              </a:rPr>
              <a:t>New alias registry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34072" y="2258568"/>
            <a:ext cx="1572767" cy="914400"/>
          </a:xfrm>
          <a:prstGeom prst="rect">
            <a:avLst/>
          </a:prstGeom>
          <a:noFill/>
        </p:spPr>
        <p:txBody>
          <a:bodyPr wrap="square" tIns="73152" bIns="73152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AABAD2"/>
                </a:solidFill>
                <a:latin typeface="Aptos"/>
              </a:defRPr>
            </a:pPr>
            <a:r>
              <a:t>insert into</a:t>
            </a:r>
          </a:p>
          <a:p>
            <a:pPr>
              <a:spcAft>
                <a:spcPts val="400"/>
              </a:spcAft>
              <a:defRPr sz="919">
                <a:solidFill>
                  <a:srgbClr val="AABAD2"/>
                </a:solidFill>
                <a:latin typeface="Aptos"/>
              </a:defRPr>
            </a:pPr>
            <a:r>
              <a:t>staging.country_alias</a:t>
            </a:r>
          </a:p>
          <a:p>
            <a:pPr>
              <a:spcAft>
                <a:spcPts val="400"/>
              </a:spcAft>
              <a:defRPr sz="919">
                <a:solidFill>
                  <a:srgbClr val="AABAD2"/>
                </a:solidFill>
                <a:latin typeface="Aptos"/>
              </a:defRPr>
            </a:pPr>
            <a:r>
              <a:t>ON CONFLICT DO NOTHING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28048" y="1828800"/>
            <a:ext cx="1874519" cy="1417320"/>
          </a:xfrm>
          <a:prstGeom prst="roundRect">
            <a:avLst/>
          </a:prstGeom>
          <a:solidFill>
            <a:srgbClr val="121F3D"/>
          </a:solidFill>
          <a:ln w="19050">
            <a:solidFill>
              <a:srgbClr val="3AC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528048" y="1828800"/>
            <a:ext cx="73152" cy="1417320"/>
          </a:xfrm>
          <a:prstGeom prst="rect">
            <a:avLst/>
          </a:prstGeom>
          <a:solidFill>
            <a:srgbClr val="3AC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92640" y="1938528"/>
            <a:ext cx="1600199" cy="22860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1320" b="1">
                <a:solidFill>
                  <a:srgbClr val="F2F7FF"/>
                </a:solidFill>
                <a:latin typeface="Aptos"/>
              </a:rPr>
              <a:t>Warehouse load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2258568"/>
            <a:ext cx="1572767" cy="914400"/>
          </a:xfrm>
          <a:prstGeom prst="rect">
            <a:avLst/>
          </a:prstGeom>
          <a:noFill/>
        </p:spPr>
        <p:txBody>
          <a:bodyPr wrap="square" tIns="73152" bIns="73152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AABAD2"/>
                </a:solidFill>
                <a:latin typeface="Aptos"/>
              </a:defRPr>
            </a:pPr>
            <a:r>
              <a:t>MySqlHook</a:t>
            </a:r>
          </a:p>
          <a:p>
            <a:pPr>
              <a:spcAft>
                <a:spcPts val="400"/>
              </a:spcAft>
              <a:defRPr sz="919">
                <a:solidFill>
                  <a:srgbClr val="AABAD2"/>
                </a:solidFill>
                <a:latin typeface="Aptos"/>
              </a:defRPr>
            </a:pPr>
            <a:r>
              <a:t>upsert dw.dim_geo</a:t>
            </a:r>
          </a:p>
          <a:p>
            <a:pPr>
              <a:spcAft>
                <a:spcPts val="400"/>
              </a:spcAft>
              <a:defRPr sz="919">
                <a:solidFill>
                  <a:srgbClr val="AABAD2"/>
                </a:solidFill>
                <a:latin typeface="Aptos"/>
              </a:defRPr>
            </a:pPr>
            <a:r>
              <a:t>canonical names only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377440" y="2542032"/>
            <a:ext cx="384048" cy="0"/>
          </a:xfrm>
          <a:prstGeom prst="line">
            <a:avLst/>
          </a:prstGeom>
          <a:ln w="27940">
            <a:solidFill>
              <a:srgbClr val="637B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636008" y="2542032"/>
            <a:ext cx="374904" cy="0"/>
          </a:xfrm>
          <a:prstGeom prst="line">
            <a:avLst/>
          </a:prstGeom>
          <a:ln w="27940">
            <a:solidFill>
              <a:srgbClr val="637B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876288" y="2542032"/>
            <a:ext cx="393192" cy="0"/>
          </a:xfrm>
          <a:prstGeom prst="line">
            <a:avLst/>
          </a:prstGeom>
          <a:ln w="27940">
            <a:solidFill>
              <a:srgbClr val="637B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125712" y="2542032"/>
            <a:ext cx="402336" cy="0"/>
          </a:xfrm>
          <a:prstGeom prst="line">
            <a:avLst/>
          </a:prstGeom>
          <a:ln w="27940">
            <a:solidFill>
              <a:srgbClr val="637B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85800" y="3886200"/>
            <a:ext cx="5257800" cy="1645920"/>
          </a:xfrm>
          <a:prstGeom prst="roundRect">
            <a:avLst/>
          </a:prstGeom>
          <a:solidFill>
            <a:srgbClr val="0A1121"/>
          </a:solidFill>
          <a:ln w="15240">
            <a:solidFill>
              <a:srgbClr val="97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4069080"/>
            <a:ext cx="4892040" cy="22860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1320" b="1">
                <a:solidFill>
                  <a:srgbClr val="F2F7FF"/>
                </a:solidFill>
                <a:latin typeface="Aptos"/>
              </a:rPr>
              <a:t>LLM request/response contract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416552"/>
            <a:ext cx="4846320" cy="868680"/>
          </a:xfrm>
          <a:prstGeom prst="rect">
            <a:avLst/>
          </a:prstGeom>
          <a:noFill/>
        </p:spPr>
        <p:txBody>
          <a:bodyPr wrap="square" tIns="73152" bIns="73152">
            <a:spAutoFit/>
          </a:bodyPr>
          <a:lstStyle/>
          <a:p>
            <a:pPr>
              <a:spcAft>
                <a:spcPts val="400"/>
              </a:spcAft>
              <a:defRPr sz="980">
                <a:solidFill>
                  <a:srgbClr val="AABAD2"/>
                </a:solidFill>
                <a:latin typeface="Consolas"/>
              </a:defRPr>
            </a:pPr>
            <a:r>
              <a:t>Input alias:  "Czech Republic"</a:t>
            </a:r>
          </a:p>
          <a:p>
            <a:pPr>
              <a:spcAft>
                <a:spcPts val="400"/>
              </a:spcAft>
              <a:defRPr sz="980">
                <a:solidFill>
                  <a:srgbClr val="AABAD2"/>
                </a:solidFill>
                <a:latin typeface="Consolas"/>
              </a:defRPr>
            </a:pPr>
            <a:r>
              <a:t>Allowed values: staging.countries.name_short</a:t>
            </a:r>
          </a:p>
          <a:p>
            <a:pPr>
              <a:spcAft>
                <a:spcPts val="400"/>
              </a:spcAft>
              <a:defRPr sz="980">
                <a:solidFill>
                  <a:srgbClr val="AABAD2"/>
                </a:solidFill>
                <a:latin typeface="Consolas"/>
              </a:defRPr>
            </a:pPr>
            <a:r>
              <a:t>Expected JSON: { canonical_name, is_newly_discovered, reasoning }</a:t>
            </a:r>
          </a:p>
          <a:p>
            <a:pPr>
              <a:spcAft>
                <a:spcPts val="400"/>
              </a:spcAft>
              <a:defRPr sz="980">
                <a:solidFill>
                  <a:srgbClr val="AABAD2"/>
                </a:solidFill>
                <a:latin typeface="Consolas"/>
              </a:defRPr>
            </a:pPr>
            <a:r>
              <a:t>Example output: "Czechia" + register alias when new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91072" y="3886200"/>
            <a:ext cx="5074920" cy="1645920"/>
          </a:xfrm>
          <a:prstGeom prst="roundRect">
            <a:avLst/>
          </a:prstGeom>
          <a:solidFill>
            <a:srgbClr val="0E1A37"/>
          </a:solidFill>
          <a:ln w="15240">
            <a:solidFill>
              <a:srgbClr val="1CC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73952" y="4069080"/>
            <a:ext cx="4663440" cy="22860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1320" b="1">
                <a:solidFill>
                  <a:srgbClr val="F2F7FF"/>
                </a:solidFill>
                <a:latin typeface="Aptos"/>
              </a:rPr>
              <a:t>Why this is fuzzy matching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3952" y="4416552"/>
            <a:ext cx="4572000" cy="868680"/>
          </a:xfrm>
          <a:prstGeom prst="rect">
            <a:avLst/>
          </a:prstGeom>
          <a:noFill/>
        </p:spPr>
        <p:txBody>
          <a:bodyPr wrap="square" tIns="73152" bIns="73152">
            <a:spAutoFit/>
          </a:bodyPr>
          <a:lstStyle/>
          <a:p>
            <a:pPr>
              <a:spcAft>
                <a:spcPts val="400"/>
              </a:spcAft>
              <a:defRPr sz="980">
                <a:solidFill>
                  <a:srgbClr val="AABAD2"/>
                </a:solidFill>
                <a:latin typeface="Aptos"/>
              </a:defRPr>
            </a:pPr>
            <a:r>
              <a:t>Not just text similarity: it can handle old names, abbreviations, translations, and informal spellings.</a:t>
            </a:r>
          </a:p>
          <a:p>
            <a:pPr>
              <a:spcAft>
                <a:spcPts val="400"/>
              </a:spcAft>
              <a:defRPr sz="980">
                <a:solidFill>
                  <a:srgbClr val="AABAD2"/>
                </a:solidFill>
                <a:latin typeface="Aptos"/>
              </a:defRPr>
            </a:pPr>
            <a:r>
              <a:t>The LLM is constrained by the canonical country list, so output stays warehouse-safe.</a:t>
            </a:r>
          </a:p>
          <a:p>
            <a:pPr>
              <a:spcAft>
                <a:spcPts val="400"/>
              </a:spcAft>
              <a:defRPr sz="980">
                <a:solidFill>
                  <a:srgbClr val="AABAD2"/>
                </a:solidFill>
                <a:latin typeface="Aptos"/>
              </a:defRPr>
            </a:pPr>
            <a:r>
              <a:t>New mappings are persisted, making later runs faster and more deterministic.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5797296"/>
            <a:ext cx="10680192" cy="502920"/>
          </a:xfrm>
          <a:prstGeom prst="roundRect">
            <a:avLst/>
          </a:prstGeom>
          <a:solidFill>
            <a:srgbClr val="142243"/>
          </a:solidFill>
          <a:ln w="12700">
            <a:solidFill>
              <a:srgbClr val="344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8680" y="5925312"/>
            <a:ext cx="10287000" cy="21031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960" b="0">
                <a:solidFill>
                  <a:srgbClr val="F2F7FF"/>
                </a:solidFill>
                <a:latin typeface="Aptos"/>
              </a:rPr>
              <a:t>DAG parameters: source_table enum = staging.drinks / staging.expectancy / staging.worldcities / staging.vehicles_country / staging.happiness    |    llm_model default = gemma4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6382512"/>
            <a:ext cx="2103120" cy="18288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900" b="1">
                <a:solidFill>
                  <a:srgbClr val="1CCFB8"/>
                </a:solidFill>
                <a:latin typeface="Aptos"/>
              </a:rPr>
              <a:t>Local runtime dependency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39696" y="6382512"/>
            <a:ext cx="8961120" cy="18288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900" b="0">
                <a:solidFill>
                  <a:srgbClr val="AABAD2"/>
                </a:solidFill>
                <a:latin typeface="Aptos"/>
              </a:rPr>
              <a:t>Ollama runs outside or beside the Airflow stack; Airflow reaches it through the saved HTTP connection named “Ollama”.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lineage and analytical model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31520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staged source data becomes reusable dimensions, facts, views, and Power BI measures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38912" y="1143000"/>
            <a:ext cx="2359152" cy="502920"/>
          </a:xfrm>
          <a:prstGeom prst="roundRect">
            <a:avLst>
              <a:gd name="adj" fmla="val 21818"/>
            </a:avLst>
          </a:prstGeom>
          <a:solidFill>
            <a:srgbClr val="E4EEFA"/>
          </a:solidFill>
          <a:ln w="12700">
            <a:solidFill>
              <a:srgbClr val="E4EE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30352" y="1243584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30352" y="1243584"/>
            <a:ext cx="292608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96112" y="1216152"/>
            <a:ext cx="18288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367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 staging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" y="1810512"/>
            <a:ext cx="2359152" cy="4169664"/>
          </a:xfrm>
          <a:prstGeom prst="roundRect">
            <a:avLst>
              <a:gd name="adj" fmla="val 5426"/>
            </a:avLst>
          </a:prstGeom>
          <a:solidFill>
            <a:srgbClr val="FFFFFF"/>
          </a:solidFill>
          <a:ln w="12700">
            <a:solidFill>
              <a:srgbClr val="BFD0E4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640080" y="2029968"/>
            <a:ext cx="1956816" cy="338328"/>
          </a:xfrm>
          <a:prstGeom prst="roundRect">
            <a:avLst>
              <a:gd name="adj" fmla="val 24324"/>
            </a:avLst>
          </a:prstGeom>
          <a:solidFill>
            <a:srgbClr val="E4EEFA"/>
          </a:solidFill>
          <a:ln w="12700">
            <a:solidFill>
              <a:srgbClr val="BFD0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76656" y="2048256"/>
            <a:ext cx="188366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3367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staging.countries</a:t>
            </a:r>
            <a:endParaRPr lang="en-US" sz="770" dirty="0"/>
          </a:p>
        </p:txBody>
      </p:sp>
      <p:sp>
        <p:nvSpPr>
          <p:cNvPr id="11" name="Shape 9"/>
          <p:cNvSpPr/>
          <p:nvPr/>
        </p:nvSpPr>
        <p:spPr>
          <a:xfrm>
            <a:off x="640080" y="2487168"/>
            <a:ext cx="1956816" cy="338328"/>
          </a:xfrm>
          <a:prstGeom prst="roundRect">
            <a:avLst>
              <a:gd name="adj" fmla="val 24324"/>
            </a:avLst>
          </a:prstGeom>
          <a:solidFill>
            <a:srgbClr val="E4EEFA"/>
          </a:solidFill>
          <a:ln w="12700">
            <a:solidFill>
              <a:srgbClr val="BFD0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76656" y="2505456"/>
            <a:ext cx="188366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3367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staging.subdivisions</a:t>
            </a:r>
            <a:endParaRPr lang="en-US" sz="770" dirty="0"/>
          </a:p>
        </p:txBody>
      </p:sp>
      <p:sp>
        <p:nvSpPr>
          <p:cNvPr id="13" name="Shape 11"/>
          <p:cNvSpPr/>
          <p:nvPr/>
        </p:nvSpPr>
        <p:spPr>
          <a:xfrm>
            <a:off x="640080" y="2944368"/>
            <a:ext cx="1956816" cy="338328"/>
          </a:xfrm>
          <a:prstGeom prst="roundRect">
            <a:avLst>
              <a:gd name="adj" fmla="val 24324"/>
            </a:avLst>
          </a:prstGeom>
          <a:solidFill>
            <a:srgbClr val="E4EEFA"/>
          </a:solidFill>
          <a:ln w="12700">
            <a:solidFill>
              <a:srgbClr val="BFD0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76656" y="2962656"/>
            <a:ext cx="188366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3367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staging.worldcities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640080" y="3401568"/>
            <a:ext cx="1956816" cy="338328"/>
          </a:xfrm>
          <a:prstGeom prst="roundRect">
            <a:avLst>
              <a:gd name="adj" fmla="val 24324"/>
            </a:avLst>
          </a:prstGeom>
          <a:solidFill>
            <a:srgbClr val="E4EEFA"/>
          </a:solidFill>
          <a:ln w="12700">
            <a:solidFill>
              <a:srgbClr val="BFD0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76656" y="3419856"/>
            <a:ext cx="188366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3367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staging.drinks</a:t>
            </a:r>
            <a:endParaRPr lang="en-US" sz="770" dirty="0"/>
          </a:p>
        </p:txBody>
      </p:sp>
      <p:sp>
        <p:nvSpPr>
          <p:cNvPr id="17" name="Shape 15"/>
          <p:cNvSpPr/>
          <p:nvPr/>
        </p:nvSpPr>
        <p:spPr>
          <a:xfrm>
            <a:off x="640080" y="3858768"/>
            <a:ext cx="1956816" cy="338328"/>
          </a:xfrm>
          <a:prstGeom prst="roundRect">
            <a:avLst>
              <a:gd name="adj" fmla="val 24324"/>
            </a:avLst>
          </a:prstGeom>
          <a:solidFill>
            <a:srgbClr val="E4EEFA"/>
          </a:solidFill>
          <a:ln w="12700">
            <a:solidFill>
              <a:srgbClr val="BFD0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76656" y="3877056"/>
            <a:ext cx="188366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3367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staging.vehicles_country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640080" y="4315968"/>
            <a:ext cx="1956816" cy="338328"/>
          </a:xfrm>
          <a:prstGeom prst="roundRect">
            <a:avLst>
              <a:gd name="adj" fmla="val 24324"/>
            </a:avLst>
          </a:prstGeom>
          <a:solidFill>
            <a:srgbClr val="E4EEFA"/>
          </a:solidFill>
          <a:ln w="12700">
            <a:solidFill>
              <a:srgbClr val="BFD0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76656" y="4334256"/>
            <a:ext cx="188366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3367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staging.happiness</a:t>
            </a:r>
            <a:endParaRPr lang="en-US" sz="770" dirty="0"/>
          </a:p>
        </p:txBody>
      </p:sp>
      <p:sp>
        <p:nvSpPr>
          <p:cNvPr id="21" name="Shape 19"/>
          <p:cNvSpPr/>
          <p:nvPr/>
        </p:nvSpPr>
        <p:spPr>
          <a:xfrm>
            <a:off x="640080" y="4773168"/>
            <a:ext cx="1956816" cy="338328"/>
          </a:xfrm>
          <a:prstGeom prst="roundRect">
            <a:avLst>
              <a:gd name="adj" fmla="val 24324"/>
            </a:avLst>
          </a:prstGeom>
          <a:solidFill>
            <a:srgbClr val="E4EEFA"/>
          </a:solidFill>
          <a:ln w="12700">
            <a:solidFill>
              <a:srgbClr val="BFD0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676656" y="4791456"/>
            <a:ext cx="188366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3367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staging.expectancy</a:t>
            </a:r>
            <a:endParaRPr lang="en-US" sz="770" dirty="0"/>
          </a:p>
        </p:txBody>
      </p:sp>
      <p:sp>
        <p:nvSpPr>
          <p:cNvPr id="23" name="Shape 21"/>
          <p:cNvSpPr/>
          <p:nvPr/>
        </p:nvSpPr>
        <p:spPr>
          <a:xfrm>
            <a:off x="640080" y="5230368"/>
            <a:ext cx="1956816" cy="338328"/>
          </a:xfrm>
          <a:prstGeom prst="roundRect">
            <a:avLst>
              <a:gd name="adj" fmla="val 24324"/>
            </a:avLst>
          </a:prstGeom>
          <a:solidFill>
            <a:srgbClr val="E4EEFA"/>
          </a:solidFill>
          <a:ln w="12700">
            <a:solidFill>
              <a:srgbClr val="BFD0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76656" y="5248656"/>
            <a:ext cx="188366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3367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staging.country_alias</a:t>
            </a:r>
            <a:endParaRPr lang="en-US" sz="770" dirty="0"/>
          </a:p>
        </p:txBody>
      </p:sp>
      <p:sp>
        <p:nvSpPr>
          <p:cNvPr id="25" name="Shape 23"/>
          <p:cNvSpPr/>
          <p:nvPr/>
        </p:nvSpPr>
        <p:spPr>
          <a:xfrm>
            <a:off x="3090672" y="1143000"/>
            <a:ext cx="1883664" cy="502920"/>
          </a:xfrm>
          <a:prstGeom prst="roundRect">
            <a:avLst>
              <a:gd name="adj" fmla="val 21818"/>
            </a:avLst>
          </a:prstGeom>
          <a:solidFill>
            <a:srgbClr val="D8F3F5"/>
          </a:solidFill>
          <a:ln w="12700">
            <a:solidFill>
              <a:srgbClr val="D8F3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3182112" y="1243584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17B83"/>
          </a:solidFill>
          <a:ln w="12700">
            <a:solidFill>
              <a:srgbClr val="017B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3182112" y="1243584"/>
            <a:ext cx="292608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547872" y="1216152"/>
            <a:ext cx="13533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17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090672" y="1810512"/>
            <a:ext cx="1883664" cy="4169664"/>
          </a:xfrm>
          <a:prstGeom prst="roundRect">
            <a:avLst>
              <a:gd name="adj" fmla="val 6796"/>
            </a:avLst>
          </a:prstGeom>
          <a:solidFill>
            <a:srgbClr val="FFFFFF"/>
          </a:solidFill>
          <a:ln w="12700">
            <a:solidFill>
              <a:srgbClr val="B8DEE2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3310128" y="2103120"/>
            <a:ext cx="144475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17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Airflow Python DAGs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456432" y="2688336"/>
            <a:ext cx="1143000" cy="292608"/>
          </a:xfrm>
          <a:prstGeom prst="roundRect">
            <a:avLst>
              <a:gd name="adj" fmla="val 375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3511296" y="2697480"/>
            <a:ext cx="1033272" cy="265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243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LOOKUPS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3401568" y="3072384"/>
            <a:ext cx="1261872" cy="1261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country aliases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 codes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 keys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keys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indicator keys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355848" y="4498848"/>
            <a:ext cx="1344168" cy="292608"/>
          </a:xfrm>
          <a:prstGeom prst="roundRect">
            <a:avLst>
              <a:gd name="adj" fmla="val 37500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3410712" y="4507992"/>
            <a:ext cx="1234440" cy="265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PATTERN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3374136" y="4901184"/>
            <a:ext cx="1298448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if exists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if not exists</a:t>
            </a:r>
            <a:endParaRPr lang="en-US" sz="980" dirty="0"/>
          </a:p>
        </p:txBody>
      </p:sp>
      <p:sp>
        <p:nvSpPr>
          <p:cNvPr id="37" name="Shape 35"/>
          <p:cNvSpPr/>
          <p:nvPr/>
        </p:nvSpPr>
        <p:spPr>
          <a:xfrm>
            <a:off x="5257800" y="1143000"/>
            <a:ext cx="4169664" cy="502920"/>
          </a:xfrm>
          <a:prstGeom prst="roundRect">
            <a:avLst>
              <a:gd name="adj" fmla="val 21818"/>
            </a:avLst>
          </a:prstGeom>
          <a:solidFill>
            <a:srgbClr val="FFF0DE"/>
          </a:solidFill>
          <a:ln w="12700">
            <a:solidFill>
              <a:srgbClr val="FFF0D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5349240" y="1243584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48E00"/>
          </a:solidFill>
          <a:ln w="12700">
            <a:solidFill>
              <a:srgbClr val="E48E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5349240" y="1243584"/>
            <a:ext cx="292608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715000" y="1216152"/>
            <a:ext cx="36393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48E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MySQL dimensional warehouse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5266944" y="1837944"/>
            <a:ext cx="4169664" cy="4169664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12700">
            <a:solidFill>
              <a:srgbClr val="F0C995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65" name="Shape 63"/>
          <p:cNvSpPr/>
          <p:nvPr/>
        </p:nvSpPr>
        <p:spPr>
          <a:xfrm>
            <a:off x="9710928" y="1143000"/>
            <a:ext cx="2057400" cy="502920"/>
          </a:xfrm>
          <a:prstGeom prst="roundRect">
            <a:avLst>
              <a:gd name="adj" fmla="val 21818"/>
            </a:avLst>
          </a:prstGeom>
          <a:solidFill>
            <a:srgbClr val="FFF6C7"/>
          </a:solidFill>
          <a:ln w="12700">
            <a:solidFill>
              <a:srgbClr val="FFF6C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Shape 64"/>
          <p:cNvSpPr/>
          <p:nvPr/>
        </p:nvSpPr>
        <p:spPr>
          <a:xfrm>
            <a:off x="9802368" y="1243584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B58A00"/>
          </a:solidFill>
          <a:ln w="12700">
            <a:solidFill>
              <a:srgbClr val="B58A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Text 65"/>
          <p:cNvSpPr/>
          <p:nvPr/>
        </p:nvSpPr>
        <p:spPr>
          <a:xfrm>
            <a:off x="9802368" y="1243584"/>
            <a:ext cx="292608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10168128" y="1216152"/>
            <a:ext cx="1527048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B58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 outputs</a:t>
            </a:r>
            <a:endParaRPr lang="en-US" sz="1250" dirty="0"/>
          </a:p>
        </p:txBody>
      </p:sp>
      <p:sp>
        <p:nvSpPr>
          <p:cNvPr id="69" name="Shape 67"/>
          <p:cNvSpPr/>
          <p:nvPr/>
        </p:nvSpPr>
        <p:spPr>
          <a:xfrm>
            <a:off x="9710928" y="1810512"/>
            <a:ext cx="2057400" cy="4169664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 w="12700">
            <a:solidFill>
              <a:srgbClr val="E7D27F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0" name="Shape 68"/>
          <p:cNvSpPr/>
          <p:nvPr/>
        </p:nvSpPr>
        <p:spPr>
          <a:xfrm>
            <a:off x="9902952" y="2057400"/>
            <a:ext cx="1673352" cy="338328"/>
          </a:xfrm>
          <a:prstGeom prst="roundRect">
            <a:avLst>
              <a:gd name="adj" fmla="val 24324"/>
            </a:avLst>
          </a:prstGeom>
          <a:solidFill>
            <a:srgbClr val="FFF0DE"/>
          </a:solidFill>
          <a:ln w="12700">
            <a:solidFill>
              <a:srgbClr val="F0C99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" name="Text 69"/>
          <p:cNvSpPr/>
          <p:nvPr/>
        </p:nvSpPr>
        <p:spPr>
          <a:xfrm>
            <a:off x="9939528" y="2075688"/>
            <a:ext cx="16002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E48E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v_country_alcohol_summary</a:t>
            </a:r>
            <a:endParaRPr lang="en-US" sz="770" dirty="0"/>
          </a:p>
        </p:txBody>
      </p:sp>
      <p:sp>
        <p:nvSpPr>
          <p:cNvPr id="72" name="Shape 70"/>
          <p:cNvSpPr/>
          <p:nvPr/>
        </p:nvSpPr>
        <p:spPr>
          <a:xfrm>
            <a:off x="10735056" y="2432304"/>
            <a:ext cx="0" cy="256032"/>
          </a:xfrm>
          <a:prstGeom prst="line">
            <a:avLst/>
          </a:prstGeom>
          <a:noFill/>
          <a:ln w="13970">
            <a:solidFill>
              <a:srgbClr val="E48E0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73" name="Shape 71"/>
          <p:cNvSpPr/>
          <p:nvPr/>
        </p:nvSpPr>
        <p:spPr>
          <a:xfrm>
            <a:off x="9902952" y="2752344"/>
            <a:ext cx="1673352" cy="338328"/>
          </a:xfrm>
          <a:prstGeom prst="roundRect">
            <a:avLst>
              <a:gd name="adj" fmla="val 24324"/>
            </a:avLst>
          </a:prstGeom>
          <a:solidFill>
            <a:srgbClr val="FFF6C7"/>
          </a:solidFill>
          <a:ln w="12700">
            <a:solidFill>
              <a:srgbClr val="E7D27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" name="Text 72"/>
          <p:cNvSpPr/>
          <p:nvPr/>
        </p:nvSpPr>
        <p:spPr>
          <a:xfrm>
            <a:off x="9939528" y="2770632"/>
            <a:ext cx="16002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B58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model</a:t>
            </a:r>
            <a:endParaRPr lang="en-US" sz="770" dirty="0"/>
          </a:p>
        </p:txBody>
      </p:sp>
      <p:sp>
        <p:nvSpPr>
          <p:cNvPr id="75" name="Shape 73"/>
          <p:cNvSpPr/>
          <p:nvPr/>
        </p:nvSpPr>
        <p:spPr>
          <a:xfrm>
            <a:off x="10735056" y="3127248"/>
            <a:ext cx="0" cy="237744"/>
          </a:xfrm>
          <a:prstGeom prst="line">
            <a:avLst/>
          </a:prstGeom>
          <a:noFill/>
          <a:ln w="13970">
            <a:solidFill>
              <a:srgbClr val="B58A0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76" name="Shape 74"/>
          <p:cNvSpPr/>
          <p:nvPr/>
        </p:nvSpPr>
        <p:spPr>
          <a:xfrm>
            <a:off x="9902952" y="3429000"/>
            <a:ext cx="1673352" cy="338328"/>
          </a:xfrm>
          <a:prstGeom prst="roundRect">
            <a:avLst>
              <a:gd name="adj" fmla="val 24324"/>
            </a:avLst>
          </a:prstGeom>
          <a:solidFill>
            <a:srgbClr val="FFF6C7"/>
          </a:solidFill>
          <a:ln w="12700">
            <a:solidFill>
              <a:srgbClr val="E7D27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7" name="Text 75"/>
          <p:cNvSpPr/>
          <p:nvPr/>
        </p:nvSpPr>
        <p:spPr>
          <a:xfrm>
            <a:off x="9939528" y="3447288"/>
            <a:ext cx="16002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B58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DAX measures</a:t>
            </a:r>
            <a:endParaRPr lang="en-US" sz="770" dirty="0"/>
          </a:p>
        </p:txBody>
      </p:sp>
      <p:sp>
        <p:nvSpPr>
          <p:cNvPr id="78" name="Shape 76"/>
          <p:cNvSpPr/>
          <p:nvPr/>
        </p:nvSpPr>
        <p:spPr>
          <a:xfrm>
            <a:off x="10735056" y="3803904"/>
            <a:ext cx="0" cy="237744"/>
          </a:xfrm>
          <a:prstGeom prst="line">
            <a:avLst/>
          </a:prstGeom>
          <a:noFill/>
          <a:ln w="13970">
            <a:solidFill>
              <a:srgbClr val="B58A0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79" name="Shape 77"/>
          <p:cNvSpPr/>
          <p:nvPr/>
        </p:nvSpPr>
        <p:spPr>
          <a:xfrm>
            <a:off x="9902952" y="4105656"/>
            <a:ext cx="1673352" cy="338328"/>
          </a:xfrm>
          <a:prstGeom prst="roundRect">
            <a:avLst>
              <a:gd name="adj" fmla="val 24324"/>
            </a:avLst>
          </a:prstGeom>
          <a:solidFill>
            <a:srgbClr val="FFF6C7"/>
          </a:solidFill>
          <a:ln w="12700">
            <a:solidFill>
              <a:srgbClr val="E7D27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0" name="Text 78"/>
          <p:cNvSpPr/>
          <p:nvPr/>
        </p:nvSpPr>
        <p:spPr>
          <a:xfrm>
            <a:off x="9939528" y="4123944"/>
            <a:ext cx="16002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B58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Maps &amp; charts</a:t>
            </a:r>
            <a:endParaRPr lang="en-US" sz="770" dirty="0"/>
          </a:p>
        </p:txBody>
      </p:sp>
      <p:sp>
        <p:nvSpPr>
          <p:cNvPr id="81" name="Shape 79"/>
          <p:cNvSpPr/>
          <p:nvPr/>
        </p:nvSpPr>
        <p:spPr>
          <a:xfrm>
            <a:off x="10735056" y="4480560"/>
            <a:ext cx="0" cy="237744"/>
          </a:xfrm>
          <a:prstGeom prst="line">
            <a:avLst/>
          </a:prstGeom>
          <a:noFill/>
          <a:ln w="13970">
            <a:solidFill>
              <a:srgbClr val="B58A0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2" name="Shape 80"/>
          <p:cNvSpPr/>
          <p:nvPr/>
        </p:nvSpPr>
        <p:spPr>
          <a:xfrm>
            <a:off x="9902952" y="4782312"/>
            <a:ext cx="1673352" cy="338328"/>
          </a:xfrm>
          <a:prstGeom prst="roundRect">
            <a:avLst>
              <a:gd name="adj" fmla="val 24324"/>
            </a:avLst>
          </a:prstGeom>
          <a:solidFill>
            <a:srgbClr val="E6F1FB"/>
          </a:solidFill>
          <a:ln w="12700">
            <a:solidFill>
              <a:srgbClr val="BCD4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3" name="Text 81"/>
          <p:cNvSpPr/>
          <p:nvPr/>
        </p:nvSpPr>
        <p:spPr>
          <a:xfrm>
            <a:off x="9939528" y="4800600"/>
            <a:ext cx="16002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347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visuals</a:t>
            </a:r>
            <a:endParaRPr lang="en-US" sz="770" dirty="0"/>
          </a:p>
        </p:txBody>
      </p:sp>
      <p:sp>
        <p:nvSpPr>
          <p:cNvPr id="84" name="Text 82"/>
          <p:cNvSpPr/>
          <p:nvPr/>
        </p:nvSpPr>
        <p:spPr>
          <a:xfrm>
            <a:off x="9902952" y="5404104"/>
            <a:ext cx="167335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PBIX + screenshots</a:t>
            </a:r>
            <a:endParaRPr lang="en-US" sz="1020" dirty="0"/>
          </a:p>
        </p:txBody>
      </p:sp>
      <p:sp>
        <p:nvSpPr>
          <p:cNvPr id="85" name="Shape 83"/>
          <p:cNvSpPr/>
          <p:nvPr/>
        </p:nvSpPr>
        <p:spPr>
          <a:xfrm>
            <a:off x="2798064" y="3858768"/>
            <a:ext cx="292608" cy="0"/>
          </a:xfrm>
          <a:prstGeom prst="line">
            <a:avLst/>
          </a:prstGeom>
          <a:noFill/>
          <a:ln w="25400">
            <a:solidFill>
              <a:srgbClr val="336791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6" name="Shape 84"/>
          <p:cNvSpPr/>
          <p:nvPr/>
        </p:nvSpPr>
        <p:spPr>
          <a:xfrm>
            <a:off x="4974336" y="3858768"/>
            <a:ext cx="283464" cy="0"/>
          </a:xfrm>
          <a:prstGeom prst="line">
            <a:avLst/>
          </a:prstGeom>
          <a:noFill/>
          <a:ln w="25400">
            <a:solidFill>
              <a:srgbClr val="017B83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7" name="Shape 85"/>
          <p:cNvSpPr/>
          <p:nvPr/>
        </p:nvSpPr>
        <p:spPr>
          <a:xfrm>
            <a:off x="9427464" y="3858768"/>
            <a:ext cx="283464" cy="0"/>
          </a:xfrm>
          <a:prstGeom prst="line">
            <a:avLst/>
          </a:prstGeom>
          <a:noFill/>
          <a:ln w="25400">
            <a:solidFill>
              <a:srgbClr val="E48E0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98" name="Picture 97">
            <a:extLst>
              <a:ext uri="{FF2B5EF4-FFF2-40B4-BE49-F238E27FC236}">
                <a16:creationId xmlns:a16="http://schemas.microsoft.com/office/drawing/2014/main" id="{1A574DAC-B49A-505B-E310-C8C7C1933F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9048" y="2197635"/>
            <a:ext cx="4207957" cy="341896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1078</Words>
  <Application>Microsoft Office PowerPoint</Application>
  <PresentationFormat>Widescreen</PresentationFormat>
  <Paragraphs>257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Andrejs Power BI Portfolio Project — Diagram Template</dc:title>
  <dc:subject>Editable project architecture diagram template</dc:subject>
  <dc:creator>OpenAI</dc:creator>
  <cp:lastModifiedBy>Andrejs Sčastnijs</cp:lastModifiedBy>
  <cp:revision>5</cp:revision>
  <dcterms:created xsi:type="dcterms:W3CDTF">2026-07-12T22:34:54Z</dcterms:created>
  <dcterms:modified xsi:type="dcterms:W3CDTF">2026-07-12T23:14:19Z</dcterms:modified>
</cp:coreProperties>
</file>